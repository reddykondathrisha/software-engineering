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5"/>
  </p:notesMasterIdLst>
  <p:sldIdLst>
    <p:sldId id="257" r:id="rId2"/>
    <p:sldId id="258" r:id="rId3"/>
    <p:sldId id="259" r:id="rId4"/>
    <p:sldId id="260" r:id="rId5"/>
    <p:sldId id="261" r:id="rId6"/>
    <p:sldId id="262" r:id="rId7"/>
    <p:sldId id="265" r:id="rId8"/>
    <p:sldId id="266" r:id="rId9"/>
    <p:sldId id="267" r:id="rId10"/>
    <p:sldId id="269" r:id="rId11"/>
    <p:sldId id="268" r:id="rId12"/>
    <p:sldId id="263" r:id="rId13"/>
    <p:sldId id="264" r:id="rId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p:scale>
          <a:sx n="75" d="100"/>
          <a:sy n="75" d="100"/>
        </p:scale>
        <p:origin x="902" y="43"/>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B5B673A-0CC8-4B0C-A117-B45D9ABC7A86}" type="datetimeFigureOut">
              <a:rPr lang="en-IN" smtClean="0"/>
              <a:t>19-06-2026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A918F47-596D-4F18-9E20-A9759B73DAEC}" type="slidenum">
              <a:rPr lang="en-IN" smtClean="0"/>
              <a:t>‹#›</a:t>
            </a:fld>
            <a:endParaRPr lang="en-IN"/>
          </a:p>
        </p:txBody>
      </p:sp>
    </p:spTree>
    <p:extLst>
      <p:ext uri="{BB962C8B-B14F-4D97-AF65-F5344CB8AC3E}">
        <p14:creationId xmlns:p14="http://schemas.microsoft.com/office/powerpoint/2010/main" val="414580081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8A918F47-596D-4F18-9E20-A9759B73DAEC}" type="slidenum">
              <a:rPr lang="en-IN" smtClean="0"/>
              <a:t>1</a:t>
            </a:fld>
            <a:endParaRPr lang="en-IN"/>
          </a:p>
        </p:txBody>
      </p:sp>
    </p:spTree>
    <p:extLst>
      <p:ext uri="{BB962C8B-B14F-4D97-AF65-F5344CB8AC3E}">
        <p14:creationId xmlns:p14="http://schemas.microsoft.com/office/powerpoint/2010/main" val="305486199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8A918F47-596D-4F18-9E20-A9759B73DAEC}" type="slidenum">
              <a:rPr lang="en-IN" smtClean="0"/>
              <a:t>3</a:t>
            </a:fld>
            <a:endParaRPr lang="en-IN"/>
          </a:p>
        </p:txBody>
      </p:sp>
    </p:spTree>
    <p:extLst>
      <p:ext uri="{BB962C8B-B14F-4D97-AF65-F5344CB8AC3E}">
        <p14:creationId xmlns:p14="http://schemas.microsoft.com/office/powerpoint/2010/main" val="196125618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8A918F47-596D-4F18-9E20-A9759B73DAEC}" type="slidenum">
              <a:rPr lang="en-IN" smtClean="0"/>
              <a:t>5</a:t>
            </a:fld>
            <a:endParaRPr lang="en-IN"/>
          </a:p>
        </p:txBody>
      </p:sp>
    </p:spTree>
    <p:extLst>
      <p:ext uri="{BB962C8B-B14F-4D97-AF65-F5344CB8AC3E}">
        <p14:creationId xmlns:p14="http://schemas.microsoft.com/office/powerpoint/2010/main" val="350475527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0100AB-FA10-D99C-4358-AF017EEFD669}"/>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2B2C4825-6E51-B34B-4BBB-19133572AD7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2305E000-1FB1-4283-8E83-F7BAD81B48B8}"/>
              </a:ext>
            </a:extLst>
          </p:cNvPr>
          <p:cNvSpPr>
            <a:spLocks noGrp="1"/>
          </p:cNvSpPr>
          <p:nvPr>
            <p:ph type="dt" sz="half" idx="10"/>
          </p:nvPr>
        </p:nvSpPr>
        <p:spPr/>
        <p:txBody>
          <a:bodyPr/>
          <a:lstStyle/>
          <a:p>
            <a:fld id="{336FF054-CB2C-4C33-B2EF-2587FECE78FF}" type="datetimeFigureOut">
              <a:rPr lang="en-IN" smtClean="0"/>
              <a:t>19-06-2026</a:t>
            </a:fld>
            <a:endParaRPr lang="en-IN"/>
          </a:p>
        </p:txBody>
      </p:sp>
      <p:sp>
        <p:nvSpPr>
          <p:cNvPr id="5" name="Footer Placeholder 4">
            <a:extLst>
              <a:ext uri="{FF2B5EF4-FFF2-40B4-BE49-F238E27FC236}">
                <a16:creationId xmlns:a16="http://schemas.microsoft.com/office/drawing/2014/main" id="{D1C1651A-2EDC-9074-ABF5-A89C7839CAB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1B3E9A3E-24DF-11BF-620F-8D7663229557}"/>
              </a:ext>
            </a:extLst>
          </p:cNvPr>
          <p:cNvSpPr>
            <a:spLocks noGrp="1"/>
          </p:cNvSpPr>
          <p:nvPr>
            <p:ph type="sldNum" sz="quarter" idx="12"/>
          </p:nvPr>
        </p:nvSpPr>
        <p:spPr/>
        <p:txBody>
          <a:bodyPr/>
          <a:lstStyle/>
          <a:p>
            <a:fld id="{B466ADF2-3A2F-473A-8DA4-A14AD54B0A86}" type="slidenum">
              <a:rPr lang="en-IN" smtClean="0"/>
              <a:t>‹#›</a:t>
            </a:fld>
            <a:endParaRPr lang="en-IN"/>
          </a:p>
        </p:txBody>
      </p:sp>
    </p:spTree>
    <p:extLst>
      <p:ext uri="{BB962C8B-B14F-4D97-AF65-F5344CB8AC3E}">
        <p14:creationId xmlns:p14="http://schemas.microsoft.com/office/powerpoint/2010/main" val="226748806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19D920-AF73-CC93-37DA-B1D1665A4FE2}"/>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AAAE50C5-F51D-765F-B558-3D888B6F11B8}"/>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9CDBEFBD-AD79-97B5-F893-F859D27CC05C}"/>
              </a:ext>
            </a:extLst>
          </p:cNvPr>
          <p:cNvSpPr>
            <a:spLocks noGrp="1"/>
          </p:cNvSpPr>
          <p:nvPr>
            <p:ph type="dt" sz="half" idx="10"/>
          </p:nvPr>
        </p:nvSpPr>
        <p:spPr/>
        <p:txBody>
          <a:bodyPr/>
          <a:lstStyle/>
          <a:p>
            <a:fld id="{336FF054-CB2C-4C33-B2EF-2587FECE78FF}" type="datetimeFigureOut">
              <a:rPr lang="en-IN" smtClean="0"/>
              <a:t>19-06-2026</a:t>
            </a:fld>
            <a:endParaRPr lang="en-IN"/>
          </a:p>
        </p:txBody>
      </p:sp>
      <p:sp>
        <p:nvSpPr>
          <p:cNvPr id="5" name="Footer Placeholder 4">
            <a:extLst>
              <a:ext uri="{FF2B5EF4-FFF2-40B4-BE49-F238E27FC236}">
                <a16:creationId xmlns:a16="http://schemas.microsoft.com/office/drawing/2014/main" id="{3CBF6232-4F91-EEA6-0545-49261081B115}"/>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07CC0069-522C-1143-9115-08B38E49CD34}"/>
              </a:ext>
            </a:extLst>
          </p:cNvPr>
          <p:cNvSpPr>
            <a:spLocks noGrp="1"/>
          </p:cNvSpPr>
          <p:nvPr>
            <p:ph type="sldNum" sz="quarter" idx="12"/>
          </p:nvPr>
        </p:nvSpPr>
        <p:spPr/>
        <p:txBody>
          <a:bodyPr/>
          <a:lstStyle/>
          <a:p>
            <a:fld id="{B466ADF2-3A2F-473A-8DA4-A14AD54B0A86}" type="slidenum">
              <a:rPr lang="en-IN" smtClean="0"/>
              <a:t>‹#›</a:t>
            </a:fld>
            <a:endParaRPr lang="en-IN"/>
          </a:p>
        </p:txBody>
      </p:sp>
    </p:spTree>
    <p:extLst>
      <p:ext uri="{BB962C8B-B14F-4D97-AF65-F5344CB8AC3E}">
        <p14:creationId xmlns:p14="http://schemas.microsoft.com/office/powerpoint/2010/main" val="62397585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E11EDA-AB89-1136-067B-FB69EFB9EC81}"/>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CFC776B1-8697-9CFA-AD6F-5F592CB35D7A}"/>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70C774AC-154B-0AE2-F1C7-766F417942C9}"/>
              </a:ext>
            </a:extLst>
          </p:cNvPr>
          <p:cNvSpPr>
            <a:spLocks noGrp="1"/>
          </p:cNvSpPr>
          <p:nvPr>
            <p:ph type="dt" sz="half" idx="10"/>
          </p:nvPr>
        </p:nvSpPr>
        <p:spPr/>
        <p:txBody>
          <a:bodyPr/>
          <a:lstStyle/>
          <a:p>
            <a:fld id="{336FF054-CB2C-4C33-B2EF-2587FECE78FF}" type="datetimeFigureOut">
              <a:rPr lang="en-IN" smtClean="0"/>
              <a:t>19-06-2026</a:t>
            </a:fld>
            <a:endParaRPr lang="en-IN"/>
          </a:p>
        </p:txBody>
      </p:sp>
      <p:sp>
        <p:nvSpPr>
          <p:cNvPr id="5" name="Footer Placeholder 4">
            <a:extLst>
              <a:ext uri="{FF2B5EF4-FFF2-40B4-BE49-F238E27FC236}">
                <a16:creationId xmlns:a16="http://schemas.microsoft.com/office/drawing/2014/main" id="{CC7B3C0B-FF4F-59FB-53AF-0780B454463A}"/>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E49438B4-0986-8C61-5F59-85AE5F199D75}"/>
              </a:ext>
            </a:extLst>
          </p:cNvPr>
          <p:cNvSpPr>
            <a:spLocks noGrp="1"/>
          </p:cNvSpPr>
          <p:nvPr>
            <p:ph type="sldNum" sz="quarter" idx="12"/>
          </p:nvPr>
        </p:nvSpPr>
        <p:spPr/>
        <p:txBody>
          <a:bodyPr/>
          <a:lstStyle/>
          <a:p>
            <a:fld id="{B466ADF2-3A2F-473A-8DA4-A14AD54B0A86}" type="slidenum">
              <a:rPr lang="en-IN" smtClean="0"/>
              <a:t>‹#›</a:t>
            </a:fld>
            <a:endParaRPr lang="en-IN"/>
          </a:p>
        </p:txBody>
      </p:sp>
    </p:spTree>
    <p:extLst>
      <p:ext uri="{BB962C8B-B14F-4D97-AF65-F5344CB8AC3E}">
        <p14:creationId xmlns:p14="http://schemas.microsoft.com/office/powerpoint/2010/main" val="199511152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1F0F89-5EC6-0E67-C163-73258CA44EE4}"/>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E4556236-B9D6-1BC1-E70C-CD80D627416C}"/>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FEB43837-62E6-DB07-21E7-6BF8F37455A9}"/>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EA464AFE-C196-833E-95F3-A4E5E0121E84}"/>
              </a:ext>
            </a:extLst>
          </p:cNvPr>
          <p:cNvSpPr>
            <a:spLocks noGrp="1"/>
          </p:cNvSpPr>
          <p:nvPr>
            <p:ph type="dt" sz="half" idx="10"/>
          </p:nvPr>
        </p:nvSpPr>
        <p:spPr/>
        <p:txBody>
          <a:bodyPr/>
          <a:lstStyle/>
          <a:p>
            <a:fld id="{336FF054-CB2C-4C33-B2EF-2587FECE78FF}" type="datetimeFigureOut">
              <a:rPr lang="en-IN" smtClean="0"/>
              <a:t>19-06-2026</a:t>
            </a:fld>
            <a:endParaRPr lang="en-IN"/>
          </a:p>
        </p:txBody>
      </p:sp>
      <p:sp>
        <p:nvSpPr>
          <p:cNvPr id="6" name="Footer Placeholder 5">
            <a:extLst>
              <a:ext uri="{FF2B5EF4-FFF2-40B4-BE49-F238E27FC236}">
                <a16:creationId xmlns:a16="http://schemas.microsoft.com/office/drawing/2014/main" id="{D63BEEA8-60BC-99A1-469C-3A1088738D4E}"/>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A9707821-3CBE-5BA1-D39F-EB588DCB2352}"/>
              </a:ext>
            </a:extLst>
          </p:cNvPr>
          <p:cNvSpPr>
            <a:spLocks noGrp="1"/>
          </p:cNvSpPr>
          <p:nvPr>
            <p:ph type="sldNum" sz="quarter" idx="12"/>
          </p:nvPr>
        </p:nvSpPr>
        <p:spPr/>
        <p:txBody>
          <a:bodyPr/>
          <a:lstStyle/>
          <a:p>
            <a:fld id="{B466ADF2-3A2F-473A-8DA4-A14AD54B0A86}" type="slidenum">
              <a:rPr lang="en-IN" smtClean="0"/>
              <a:t>‹#›</a:t>
            </a:fld>
            <a:endParaRPr lang="en-IN"/>
          </a:p>
        </p:txBody>
      </p:sp>
    </p:spTree>
    <p:extLst>
      <p:ext uri="{BB962C8B-B14F-4D97-AF65-F5344CB8AC3E}">
        <p14:creationId xmlns:p14="http://schemas.microsoft.com/office/powerpoint/2010/main" val="303288551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9C1C76-E26A-B0E6-303D-A753941C272F}"/>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DDEC91FD-F7A6-A3E7-EAEA-740ED925412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BF5F39EE-BBB9-D440-9F43-FA344FE35745}"/>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FDD2CF0E-20E6-B282-4427-836C025314A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8D32FF0A-DCEE-1446-D9B7-52DE2555A223}"/>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294E2A11-5C2D-6AF4-3F18-0A868117BF54}"/>
              </a:ext>
            </a:extLst>
          </p:cNvPr>
          <p:cNvSpPr>
            <a:spLocks noGrp="1"/>
          </p:cNvSpPr>
          <p:nvPr>
            <p:ph type="dt" sz="half" idx="10"/>
          </p:nvPr>
        </p:nvSpPr>
        <p:spPr/>
        <p:txBody>
          <a:bodyPr/>
          <a:lstStyle/>
          <a:p>
            <a:fld id="{336FF054-CB2C-4C33-B2EF-2587FECE78FF}" type="datetimeFigureOut">
              <a:rPr lang="en-IN" smtClean="0"/>
              <a:t>19-06-2026</a:t>
            </a:fld>
            <a:endParaRPr lang="en-IN"/>
          </a:p>
        </p:txBody>
      </p:sp>
      <p:sp>
        <p:nvSpPr>
          <p:cNvPr id="8" name="Footer Placeholder 7">
            <a:extLst>
              <a:ext uri="{FF2B5EF4-FFF2-40B4-BE49-F238E27FC236}">
                <a16:creationId xmlns:a16="http://schemas.microsoft.com/office/drawing/2014/main" id="{92968814-1ABD-CCE9-516B-B7E0C542D772}"/>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FC4D73A2-2F41-C140-DC18-00F87ABF63BB}"/>
              </a:ext>
            </a:extLst>
          </p:cNvPr>
          <p:cNvSpPr>
            <a:spLocks noGrp="1"/>
          </p:cNvSpPr>
          <p:nvPr>
            <p:ph type="sldNum" sz="quarter" idx="12"/>
          </p:nvPr>
        </p:nvSpPr>
        <p:spPr/>
        <p:txBody>
          <a:bodyPr/>
          <a:lstStyle/>
          <a:p>
            <a:fld id="{B466ADF2-3A2F-473A-8DA4-A14AD54B0A86}" type="slidenum">
              <a:rPr lang="en-IN" smtClean="0"/>
              <a:t>‹#›</a:t>
            </a:fld>
            <a:endParaRPr lang="en-IN"/>
          </a:p>
        </p:txBody>
      </p:sp>
    </p:spTree>
    <p:extLst>
      <p:ext uri="{BB962C8B-B14F-4D97-AF65-F5344CB8AC3E}">
        <p14:creationId xmlns:p14="http://schemas.microsoft.com/office/powerpoint/2010/main" val="332252954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205DE0-2A79-F1CC-7AD2-286142268EC2}"/>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5264E14E-68A9-C932-9BDD-065C5BAB168B}"/>
              </a:ext>
            </a:extLst>
          </p:cNvPr>
          <p:cNvSpPr>
            <a:spLocks noGrp="1"/>
          </p:cNvSpPr>
          <p:nvPr>
            <p:ph type="dt" sz="half" idx="10"/>
          </p:nvPr>
        </p:nvSpPr>
        <p:spPr/>
        <p:txBody>
          <a:bodyPr/>
          <a:lstStyle/>
          <a:p>
            <a:fld id="{336FF054-CB2C-4C33-B2EF-2587FECE78FF}" type="datetimeFigureOut">
              <a:rPr lang="en-IN" smtClean="0"/>
              <a:t>19-06-2026</a:t>
            </a:fld>
            <a:endParaRPr lang="en-IN"/>
          </a:p>
        </p:txBody>
      </p:sp>
      <p:sp>
        <p:nvSpPr>
          <p:cNvPr id="4" name="Footer Placeholder 3">
            <a:extLst>
              <a:ext uri="{FF2B5EF4-FFF2-40B4-BE49-F238E27FC236}">
                <a16:creationId xmlns:a16="http://schemas.microsoft.com/office/drawing/2014/main" id="{A19DE9D4-92FB-3F87-E33D-FE40164BC3F5}"/>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2251BC7B-C564-2161-91AB-034C88D79959}"/>
              </a:ext>
            </a:extLst>
          </p:cNvPr>
          <p:cNvSpPr>
            <a:spLocks noGrp="1"/>
          </p:cNvSpPr>
          <p:nvPr>
            <p:ph type="sldNum" sz="quarter" idx="12"/>
          </p:nvPr>
        </p:nvSpPr>
        <p:spPr/>
        <p:txBody>
          <a:bodyPr/>
          <a:lstStyle/>
          <a:p>
            <a:fld id="{B466ADF2-3A2F-473A-8DA4-A14AD54B0A86}" type="slidenum">
              <a:rPr lang="en-IN" smtClean="0"/>
              <a:t>‹#›</a:t>
            </a:fld>
            <a:endParaRPr lang="en-IN"/>
          </a:p>
        </p:txBody>
      </p:sp>
    </p:spTree>
    <p:extLst>
      <p:ext uri="{BB962C8B-B14F-4D97-AF65-F5344CB8AC3E}">
        <p14:creationId xmlns:p14="http://schemas.microsoft.com/office/powerpoint/2010/main" val="37620564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A8D2813-03C1-66C5-C78A-8947BC9D83AB}"/>
              </a:ext>
            </a:extLst>
          </p:cNvPr>
          <p:cNvSpPr>
            <a:spLocks noGrp="1"/>
          </p:cNvSpPr>
          <p:nvPr>
            <p:ph type="dt" sz="half" idx="10"/>
          </p:nvPr>
        </p:nvSpPr>
        <p:spPr/>
        <p:txBody>
          <a:bodyPr/>
          <a:lstStyle/>
          <a:p>
            <a:fld id="{336FF054-CB2C-4C33-B2EF-2587FECE78FF}" type="datetimeFigureOut">
              <a:rPr lang="en-IN" smtClean="0"/>
              <a:t>19-06-2026</a:t>
            </a:fld>
            <a:endParaRPr lang="en-IN"/>
          </a:p>
        </p:txBody>
      </p:sp>
      <p:sp>
        <p:nvSpPr>
          <p:cNvPr id="3" name="Footer Placeholder 2">
            <a:extLst>
              <a:ext uri="{FF2B5EF4-FFF2-40B4-BE49-F238E27FC236}">
                <a16:creationId xmlns:a16="http://schemas.microsoft.com/office/drawing/2014/main" id="{10465555-2BFE-D825-3C67-BEB8A0177977}"/>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728FE1DD-349E-93B9-C945-5738E74FD1EE}"/>
              </a:ext>
            </a:extLst>
          </p:cNvPr>
          <p:cNvSpPr>
            <a:spLocks noGrp="1"/>
          </p:cNvSpPr>
          <p:nvPr>
            <p:ph type="sldNum" sz="quarter" idx="12"/>
          </p:nvPr>
        </p:nvSpPr>
        <p:spPr/>
        <p:txBody>
          <a:bodyPr/>
          <a:lstStyle/>
          <a:p>
            <a:fld id="{B466ADF2-3A2F-473A-8DA4-A14AD54B0A86}" type="slidenum">
              <a:rPr lang="en-IN" smtClean="0"/>
              <a:t>‹#›</a:t>
            </a:fld>
            <a:endParaRPr lang="en-IN"/>
          </a:p>
        </p:txBody>
      </p:sp>
    </p:spTree>
    <p:extLst>
      <p:ext uri="{BB962C8B-B14F-4D97-AF65-F5344CB8AC3E}">
        <p14:creationId xmlns:p14="http://schemas.microsoft.com/office/powerpoint/2010/main" val="195387360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96C132-F86E-04F6-39CA-747F9E0C0C3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A0BD5639-DA07-4763-4484-F7CD4F483321}"/>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3367802B-26EA-A8AD-8254-BA6FC828EB4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7CE59AC-CEDB-68E8-9349-23524AEB4C5B}"/>
              </a:ext>
            </a:extLst>
          </p:cNvPr>
          <p:cNvSpPr>
            <a:spLocks noGrp="1"/>
          </p:cNvSpPr>
          <p:nvPr>
            <p:ph type="dt" sz="half" idx="10"/>
          </p:nvPr>
        </p:nvSpPr>
        <p:spPr/>
        <p:txBody>
          <a:bodyPr/>
          <a:lstStyle/>
          <a:p>
            <a:fld id="{336FF054-CB2C-4C33-B2EF-2587FECE78FF}" type="datetimeFigureOut">
              <a:rPr lang="en-IN" smtClean="0"/>
              <a:t>19-06-2026</a:t>
            </a:fld>
            <a:endParaRPr lang="en-IN"/>
          </a:p>
        </p:txBody>
      </p:sp>
      <p:sp>
        <p:nvSpPr>
          <p:cNvPr id="6" name="Footer Placeholder 5">
            <a:extLst>
              <a:ext uri="{FF2B5EF4-FFF2-40B4-BE49-F238E27FC236}">
                <a16:creationId xmlns:a16="http://schemas.microsoft.com/office/drawing/2014/main" id="{039020A5-CF27-C986-AA42-B5B9A9D70335}"/>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847AA6B7-85EE-69AF-9795-4418211FEE88}"/>
              </a:ext>
            </a:extLst>
          </p:cNvPr>
          <p:cNvSpPr>
            <a:spLocks noGrp="1"/>
          </p:cNvSpPr>
          <p:nvPr>
            <p:ph type="sldNum" sz="quarter" idx="12"/>
          </p:nvPr>
        </p:nvSpPr>
        <p:spPr/>
        <p:txBody>
          <a:bodyPr/>
          <a:lstStyle/>
          <a:p>
            <a:fld id="{B466ADF2-3A2F-473A-8DA4-A14AD54B0A86}" type="slidenum">
              <a:rPr lang="en-IN" smtClean="0"/>
              <a:t>‹#›</a:t>
            </a:fld>
            <a:endParaRPr lang="en-IN"/>
          </a:p>
        </p:txBody>
      </p:sp>
    </p:spTree>
    <p:extLst>
      <p:ext uri="{BB962C8B-B14F-4D97-AF65-F5344CB8AC3E}">
        <p14:creationId xmlns:p14="http://schemas.microsoft.com/office/powerpoint/2010/main" val="333714794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E40E39-866F-6964-E6F4-06B7FA3345F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B020E954-CA5E-836F-8E29-705F994146E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5A4DEC4B-E056-6EEC-7FA8-F94ACB1C109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C331F01-8DB0-DEAD-1DEE-7839D1A51E6B}"/>
              </a:ext>
            </a:extLst>
          </p:cNvPr>
          <p:cNvSpPr>
            <a:spLocks noGrp="1"/>
          </p:cNvSpPr>
          <p:nvPr>
            <p:ph type="dt" sz="half" idx="10"/>
          </p:nvPr>
        </p:nvSpPr>
        <p:spPr/>
        <p:txBody>
          <a:bodyPr/>
          <a:lstStyle/>
          <a:p>
            <a:fld id="{336FF054-CB2C-4C33-B2EF-2587FECE78FF}" type="datetimeFigureOut">
              <a:rPr lang="en-IN" smtClean="0"/>
              <a:t>19-06-2026</a:t>
            </a:fld>
            <a:endParaRPr lang="en-IN"/>
          </a:p>
        </p:txBody>
      </p:sp>
      <p:sp>
        <p:nvSpPr>
          <p:cNvPr id="6" name="Footer Placeholder 5">
            <a:extLst>
              <a:ext uri="{FF2B5EF4-FFF2-40B4-BE49-F238E27FC236}">
                <a16:creationId xmlns:a16="http://schemas.microsoft.com/office/drawing/2014/main" id="{DD083FAA-BF90-19E4-ED3D-7D95AE945684}"/>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AF6D6557-3696-1BF6-1060-DF5172E12066}"/>
              </a:ext>
            </a:extLst>
          </p:cNvPr>
          <p:cNvSpPr>
            <a:spLocks noGrp="1"/>
          </p:cNvSpPr>
          <p:nvPr>
            <p:ph type="sldNum" sz="quarter" idx="12"/>
          </p:nvPr>
        </p:nvSpPr>
        <p:spPr/>
        <p:txBody>
          <a:bodyPr/>
          <a:lstStyle/>
          <a:p>
            <a:fld id="{B466ADF2-3A2F-473A-8DA4-A14AD54B0A86}" type="slidenum">
              <a:rPr lang="en-IN" smtClean="0"/>
              <a:t>‹#›</a:t>
            </a:fld>
            <a:endParaRPr lang="en-IN"/>
          </a:p>
        </p:txBody>
      </p:sp>
    </p:spTree>
    <p:extLst>
      <p:ext uri="{BB962C8B-B14F-4D97-AF65-F5344CB8AC3E}">
        <p14:creationId xmlns:p14="http://schemas.microsoft.com/office/powerpoint/2010/main" val="87853878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C65379-4FB2-BCD4-211D-5715150B82D8}"/>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1B9C7E1D-471F-1C64-2081-8DBEC0FA6749}"/>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74474DA9-670B-D3EB-8797-336CC0BF6C8A}"/>
              </a:ext>
            </a:extLst>
          </p:cNvPr>
          <p:cNvSpPr>
            <a:spLocks noGrp="1"/>
          </p:cNvSpPr>
          <p:nvPr>
            <p:ph type="dt" sz="half" idx="10"/>
          </p:nvPr>
        </p:nvSpPr>
        <p:spPr/>
        <p:txBody>
          <a:bodyPr/>
          <a:lstStyle/>
          <a:p>
            <a:fld id="{336FF054-CB2C-4C33-B2EF-2587FECE78FF}" type="datetimeFigureOut">
              <a:rPr lang="en-IN" smtClean="0"/>
              <a:t>19-06-2026</a:t>
            </a:fld>
            <a:endParaRPr lang="en-IN"/>
          </a:p>
        </p:txBody>
      </p:sp>
      <p:sp>
        <p:nvSpPr>
          <p:cNvPr id="5" name="Footer Placeholder 4">
            <a:extLst>
              <a:ext uri="{FF2B5EF4-FFF2-40B4-BE49-F238E27FC236}">
                <a16:creationId xmlns:a16="http://schemas.microsoft.com/office/drawing/2014/main" id="{F903E3C6-8A46-CBA0-6655-76E6E85B85D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F2B04F2E-E9EC-F767-467A-43EF283CADB8}"/>
              </a:ext>
            </a:extLst>
          </p:cNvPr>
          <p:cNvSpPr>
            <a:spLocks noGrp="1"/>
          </p:cNvSpPr>
          <p:nvPr>
            <p:ph type="sldNum" sz="quarter" idx="12"/>
          </p:nvPr>
        </p:nvSpPr>
        <p:spPr/>
        <p:txBody>
          <a:bodyPr/>
          <a:lstStyle/>
          <a:p>
            <a:fld id="{B466ADF2-3A2F-473A-8DA4-A14AD54B0A86}" type="slidenum">
              <a:rPr lang="en-IN" smtClean="0"/>
              <a:t>‹#›</a:t>
            </a:fld>
            <a:endParaRPr lang="en-IN"/>
          </a:p>
        </p:txBody>
      </p:sp>
    </p:spTree>
    <p:extLst>
      <p:ext uri="{BB962C8B-B14F-4D97-AF65-F5344CB8AC3E}">
        <p14:creationId xmlns:p14="http://schemas.microsoft.com/office/powerpoint/2010/main" val="119922966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C479E1F-74F0-F492-0C56-1E18B532B2DD}"/>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D306D0F0-AF88-4BE6-B0D9-2DA550D4E102}"/>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9698C2CC-502D-F59C-4657-9219220F8D64}"/>
              </a:ext>
            </a:extLst>
          </p:cNvPr>
          <p:cNvSpPr>
            <a:spLocks noGrp="1"/>
          </p:cNvSpPr>
          <p:nvPr>
            <p:ph type="dt" sz="half" idx="10"/>
          </p:nvPr>
        </p:nvSpPr>
        <p:spPr/>
        <p:txBody>
          <a:bodyPr/>
          <a:lstStyle/>
          <a:p>
            <a:fld id="{336FF054-CB2C-4C33-B2EF-2587FECE78FF}" type="datetimeFigureOut">
              <a:rPr lang="en-IN" smtClean="0"/>
              <a:t>19-06-2026</a:t>
            </a:fld>
            <a:endParaRPr lang="en-IN"/>
          </a:p>
        </p:txBody>
      </p:sp>
      <p:sp>
        <p:nvSpPr>
          <p:cNvPr id="5" name="Footer Placeholder 4">
            <a:extLst>
              <a:ext uri="{FF2B5EF4-FFF2-40B4-BE49-F238E27FC236}">
                <a16:creationId xmlns:a16="http://schemas.microsoft.com/office/drawing/2014/main" id="{0477221C-9A34-9A6E-FEAD-A3F44C0FA094}"/>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B8ED9FB6-A8B1-43B2-975C-BB5CE51DC04E}"/>
              </a:ext>
            </a:extLst>
          </p:cNvPr>
          <p:cNvSpPr>
            <a:spLocks noGrp="1"/>
          </p:cNvSpPr>
          <p:nvPr>
            <p:ph type="sldNum" sz="quarter" idx="12"/>
          </p:nvPr>
        </p:nvSpPr>
        <p:spPr/>
        <p:txBody>
          <a:bodyPr/>
          <a:lstStyle/>
          <a:p>
            <a:fld id="{B466ADF2-3A2F-473A-8DA4-A14AD54B0A86}" type="slidenum">
              <a:rPr lang="en-IN" smtClean="0"/>
              <a:t>‹#›</a:t>
            </a:fld>
            <a:endParaRPr lang="en-IN"/>
          </a:p>
        </p:txBody>
      </p:sp>
    </p:spTree>
    <p:extLst>
      <p:ext uri="{BB962C8B-B14F-4D97-AF65-F5344CB8AC3E}">
        <p14:creationId xmlns:p14="http://schemas.microsoft.com/office/powerpoint/2010/main" val="231997523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DEEB172-18F4-C701-5F3E-2D69219E747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1B16200D-7512-ED2C-1DC8-9745F62E770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0564625B-5FC1-AD4A-7E06-A2EB8BED857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36FF054-CB2C-4C33-B2EF-2587FECE78FF}" type="datetimeFigureOut">
              <a:rPr lang="en-IN" smtClean="0"/>
              <a:t>19-06-2026</a:t>
            </a:fld>
            <a:endParaRPr lang="en-IN"/>
          </a:p>
        </p:txBody>
      </p:sp>
      <p:sp>
        <p:nvSpPr>
          <p:cNvPr id="5" name="Footer Placeholder 4">
            <a:extLst>
              <a:ext uri="{FF2B5EF4-FFF2-40B4-BE49-F238E27FC236}">
                <a16:creationId xmlns:a16="http://schemas.microsoft.com/office/drawing/2014/main" id="{8890D408-E5E5-D3E1-D737-F0D60ADC362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FB9B12A1-FC78-CA69-70A0-89EC890FA04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466ADF2-3A2F-473A-8DA4-A14AD54B0A86}" type="slidenum">
              <a:rPr lang="en-IN" smtClean="0"/>
              <a:t>‹#›</a:t>
            </a:fld>
            <a:endParaRPr lang="en-IN"/>
          </a:p>
        </p:txBody>
      </p:sp>
    </p:spTree>
    <p:extLst>
      <p:ext uri="{BB962C8B-B14F-4D97-AF65-F5344CB8AC3E}">
        <p14:creationId xmlns:p14="http://schemas.microsoft.com/office/powerpoint/2010/main" val="299234136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4BFC1EFD-28BD-68E6-A1D6-6ADFB2685E3B}"/>
              </a:ext>
            </a:extLst>
          </p:cNvPr>
          <p:cNvSpPr txBox="1"/>
          <p:nvPr/>
        </p:nvSpPr>
        <p:spPr>
          <a:xfrm>
            <a:off x="213360" y="2015003"/>
            <a:ext cx="11399520" cy="1200329"/>
          </a:xfrm>
          <a:prstGeom prst="rect">
            <a:avLst/>
          </a:prstGeom>
          <a:noFill/>
        </p:spPr>
        <p:txBody>
          <a:bodyPr wrap="square">
            <a:spAutoFit/>
          </a:bodyPr>
          <a:lstStyle/>
          <a:p>
            <a:pPr algn="ctr" rtl="0" fontAlgn="b">
              <a:buNone/>
            </a:pPr>
            <a:r>
              <a:rPr lang="en-IN" sz="3600" dirty="0">
                <a:solidFill>
                  <a:srgbClr val="FF0000"/>
                </a:solidFill>
                <a:effectLst/>
                <a:latin typeface="Times New Roman" panose="02020603050405020304" pitchFamily="18" charset="0"/>
                <a:cs typeface="Times New Roman" panose="02020603050405020304" pitchFamily="18" charset="0"/>
              </a:rPr>
              <a:t>AI-POWERED SMART REQUIREMENT ANALYZER FOR SE AND AUTOMATED SRS GENERATION</a:t>
            </a:r>
          </a:p>
        </p:txBody>
      </p:sp>
      <p:sp>
        <p:nvSpPr>
          <p:cNvPr id="5" name="TextBox 4">
            <a:extLst>
              <a:ext uri="{FF2B5EF4-FFF2-40B4-BE49-F238E27FC236}">
                <a16:creationId xmlns:a16="http://schemas.microsoft.com/office/drawing/2014/main" id="{D8EEF298-DC69-03CA-3F59-E1F5D4669658}"/>
              </a:ext>
            </a:extLst>
          </p:cNvPr>
          <p:cNvSpPr txBox="1"/>
          <p:nvPr/>
        </p:nvSpPr>
        <p:spPr>
          <a:xfrm>
            <a:off x="8930640" y="4318000"/>
            <a:ext cx="3190240" cy="1704569"/>
          </a:xfrm>
          <a:prstGeom prst="rect">
            <a:avLst/>
          </a:prstGeom>
          <a:noFill/>
        </p:spPr>
        <p:txBody>
          <a:bodyPr wrap="square" rtlCol="0">
            <a:spAutoFit/>
          </a:bodyPr>
          <a:lstStyle/>
          <a:p>
            <a:pPr>
              <a:lnSpc>
                <a:spcPct val="150000"/>
              </a:lnSpc>
            </a:pPr>
            <a:r>
              <a:rPr lang="en-IN" dirty="0">
                <a:solidFill>
                  <a:srgbClr val="FF0000"/>
                </a:solidFill>
                <a:latin typeface="Times New Roman" panose="02020603050405020304" pitchFamily="18" charset="0"/>
                <a:cs typeface="Times New Roman" panose="02020603050405020304" pitchFamily="18" charset="0"/>
              </a:rPr>
              <a:t>Presented by</a:t>
            </a:r>
          </a:p>
          <a:p>
            <a:pPr>
              <a:lnSpc>
                <a:spcPct val="150000"/>
              </a:lnSpc>
            </a:pPr>
            <a:r>
              <a:rPr lang="en-IN" dirty="0">
                <a:latin typeface="Times New Roman" panose="02020603050405020304" pitchFamily="18" charset="0"/>
                <a:cs typeface="Times New Roman" panose="02020603050405020304" pitchFamily="18" charset="0"/>
              </a:rPr>
              <a:t>T Gnaneswari 192372183</a:t>
            </a:r>
            <a:br>
              <a:rPr lang="en-IN" dirty="0">
                <a:latin typeface="Times New Roman" panose="02020603050405020304" pitchFamily="18" charset="0"/>
                <a:cs typeface="Times New Roman" panose="02020603050405020304" pitchFamily="18" charset="0"/>
              </a:rPr>
            </a:br>
            <a:r>
              <a:rPr lang="en-IN" dirty="0">
                <a:latin typeface="Times New Roman" panose="02020603050405020304" pitchFamily="18" charset="0"/>
                <a:cs typeface="Times New Roman" panose="02020603050405020304" pitchFamily="18" charset="0"/>
              </a:rPr>
              <a:t>R Thrisha 192373045</a:t>
            </a:r>
            <a:br>
              <a:rPr lang="en-IN" dirty="0">
                <a:latin typeface="Times New Roman" panose="02020603050405020304" pitchFamily="18" charset="0"/>
                <a:cs typeface="Times New Roman" panose="02020603050405020304" pitchFamily="18" charset="0"/>
              </a:rPr>
            </a:br>
            <a:r>
              <a:rPr lang="en-IN" dirty="0">
                <a:latin typeface="Times New Roman" panose="02020603050405020304" pitchFamily="18" charset="0"/>
                <a:cs typeface="Times New Roman" panose="02020603050405020304" pitchFamily="18" charset="0"/>
              </a:rPr>
              <a:t>G Mythili 192372250</a:t>
            </a:r>
          </a:p>
        </p:txBody>
      </p:sp>
      <p:sp>
        <p:nvSpPr>
          <p:cNvPr id="6" name="TextBox 5">
            <a:extLst>
              <a:ext uri="{FF2B5EF4-FFF2-40B4-BE49-F238E27FC236}">
                <a16:creationId xmlns:a16="http://schemas.microsoft.com/office/drawing/2014/main" id="{955806B8-0186-4BCD-4C89-D5C091D1E711}"/>
              </a:ext>
            </a:extLst>
          </p:cNvPr>
          <p:cNvSpPr txBox="1"/>
          <p:nvPr/>
        </p:nvSpPr>
        <p:spPr>
          <a:xfrm>
            <a:off x="863600" y="4480560"/>
            <a:ext cx="2712720" cy="1615827"/>
          </a:xfrm>
          <a:prstGeom prst="rect">
            <a:avLst/>
          </a:prstGeom>
          <a:noFill/>
        </p:spPr>
        <p:txBody>
          <a:bodyPr wrap="square" rtlCol="0">
            <a:spAutoFit/>
          </a:bodyPr>
          <a:lstStyle/>
          <a:p>
            <a:pPr>
              <a:lnSpc>
                <a:spcPct val="150000"/>
              </a:lnSpc>
            </a:pPr>
            <a:r>
              <a:rPr lang="en-IN" dirty="0">
                <a:solidFill>
                  <a:srgbClr val="FF0000"/>
                </a:solidFill>
                <a:latin typeface="Times New Roman" panose="02020603050405020304" pitchFamily="18" charset="0"/>
                <a:cs typeface="Times New Roman" panose="02020603050405020304" pitchFamily="18" charset="0"/>
              </a:rPr>
              <a:t>Guide by</a:t>
            </a:r>
            <a:endParaRPr lang="en-IN" dirty="0"/>
          </a:p>
          <a:p>
            <a:pPr>
              <a:lnSpc>
                <a:spcPct val="150000"/>
              </a:lnSpc>
            </a:pPr>
            <a:r>
              <a:rPr lang="en-IN" dirty="0">
                <a:latin typeface="Times New Roman" panose="02020603050405020304" pitchFamily="18" charset="0"/>
                <a:cs typeface="Times New Roman" panose="02020603050405020304" pitchFamily="18" charset="0"/>
              </a:rPr>
              <a:t>Dr Radhika S</a:t>
            </a:r>
          </a:p>
          <a:p>
            <a:pPr>
              <a:lnSpc>
                <a:spcPct val="150000"/>
              </a:lnSpc>
            </a:pPr>
            <a:r>
              <a:rPr lang="en-IN" dirty="0">
                <a:latin typeface="Times New Roman" panose="02020603050405020304" pitchFamily="18" charset="0"/>
                <a:cs typeface="Times New Roman" panose="02020603050405020304" pitchFamily="18" charset="0"/>
              </a:rPr>
              <a:t>Dr Sarala V</a:t>
            </a:r>
          </a:p>
          <a:p>
            <a:endParaRPr lang="en-IN" dirty="0"/>
          </a:p>
        </p:txBody>
      </p:sp>
      <p:sp>
        <p:nvSpPr>
          <p:cNvPr id="7" name="TextBox 6">
            <a:extLst>
              <a:ext uri="{FF2B5EF4-FFF2-40B4-BE49-F238E27FC236}">
                <a16:creationId xmlns:a16="http://schemas.microsoft.com/office/drawing/2014/main" id="{E21BF0FD-5225-6115-8465-7F742F7988D6}"/>
              </a:ext>
            </a:extLst>
          </p:cNvPr>
          <p:cNvSpPr txBox="1"/>
          <p:nvPr/>
        </p:nvSpPr>
        <p:spPr>
          <a:xfrm>
            <a:off x="2682240" y="3429000"/>
            <a:ext cx="6675120" cy="461665"/>
          </a:xfrm>
          <a:prstGeom prst="rect">
            <a:avLst/>
          </a:prstGeom>
          <a:noFill/>
        </p:spPr>
        <p:txBody>
          <a:bodyPr wrap="square" rtlCol="0">
            <a:spAutoFit/>
          </a:bodyPr>
          <a:lstStyle/>
          <a:p>
            <a:r>
              <a:rPr lang="en-IN" sz="2400" dirty="0">
                <a:latin typeface="Times New Roman" panose="02020603050405020304" pitchFamily="18" charset="0"/>
                <a:cs typeface="Times New Roman" panose="02020603050405020304" pitchFamily="18" charset="0"/>
              </a:rPr>
              <a:t>CSA1062-Software Application for version control</a:t>
            </a:r>
          </a:p>
        </p:txBody>
      </p:sp>
      <p:pic>
        <p:nvPicPr>
          <p:cNvPr id="8" name="Picture 2" descr="SSE-Computer Science and Engineering">
            <a:extLst>
              <a:ext uri="{FF2B5EF4-FFF2-40B4-BE49-F238E27FC236}">
                <a16:creationId xmlns:a16="http://schemas.microsoft.com/office/drawing/2014/main" id="{9CB3D297-A0A9-0E60-61EE-6154729FA91A}"/>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28320" y="309230"/>
            <a:ext cx="10953135" cy="116023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2141830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9A24724F-0392-EFD7-BD83-DF1AB9B2316C}"/>
              </a:ext>
            </a:extLst>
          </p:cNvPr>
          <p:cNvSpPr txBox="1"/>
          <p:nvPr/>
        </p:nvSpPr>
        <p:spPr>
          <a:xfrm>
            <a:off x="4653280" y="518105"/>
            <a:ext cx="6096000" cy="646331"/>
          </a:xfrm>
          <a:prstGeom prst="rect">
            <a:avLst/>
          </a:prstGeom>
          <a:noFill/>
        </p:spPr>
        <p:txBody>
          <a:bodyPr wrap="square">
            <a:spAutoFit/>
          </a:bodyPr>
          <a:lstStyle/>
          <a:p>
            <a:r>
              <a:rPr lang="en-IN" sz="3600" dirty="0">
                <a:solidFill>
                  <a:srgbClr val="FF0000"/>
                </a:solidFill>
                <a:latin typeface="Times New Roman" panose="02020603050405020304" pitchFamily="18" charset="0"/>
                <a:cs typeface="Times New Roman" panose="02020603050405020304" pitchFamily="18" charset="0"/>
              </a:rPr>
              <a:t>ABSTRACT</a:t>
            </a:r>
          </a:p>
        </p:txBody>
      </p:sp>
      <p:sp>
        <p:nvSpPr>
          <p:cNvPr id="5" name="TextBox 4">
            <a:extLst>
              <a:ext uri="{FF2B5EF4-FFF2-40B4-BE49-F238E27FC236}">
                <a16:creationId xmlns:a16="http://schemas.microsoft.com/office/drawing/2014/main" id="{E60554B8-32D7-1E77-ED3A-15211CFB24E8}"/>
              </a:ext>
            </a:extLst>
          </p:cNvPr>
          <p:cNvSpPr txBox="1"/>
          <p:nvPr/>
        </p:nvSpPr>
        <p:spPr>
          <a:xfrm>
            <a:off x="370840" y="1406941"/>
            <a:ext cx="11450320" cy="3366563"/>
          </a:xfrm>
          <a:prstGeom prst="rect">
            <a:avLst/>
          </a:prstGeom>
          <a:noFill/>
        </p:spPr>
        <p:txBody>
          <a:bodyPr wrap="square">
            <a:spAutoFit/>
          </a:bodyPr>
          <a:lstStyle/>
          <a:p>
            <a:pPr marL="285750" indent="-285750" algn="just">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Software Requirement Specification (SRS) is a critical document in software development. </a:t>
            </a:r>
          </a:p>
          <a:p>
            <a:pPr marL="285750" indent="-285750" algn="just">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Traditional requirement gathering and documentation processes are time-consuming, error-prone, and often lead to ambiguities.</a:t>
            </a:r>
          </a:p>
          <a:p>
            <a:pPr marL="285750" indent="-285750" algn="just">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The proposed </a:t>
            </a:r>
            <a:r>
              <a:rPr lang="en-IN" b="1" dirty="0">
                <a:latin typeface="Times New Roman" panose="02020603050405020304" pitchFamily="18" charset="0"/>
                <a:cs typeface="Times New Roman" panose="02020603050405020304" pitchFamily="18" charset="0"/>
              </a:rPr>
              <a:t>AI-Powered Smart Requirement Analyzer</a:t>
            </a:r>
            <a:r>
              <a:rPr lang="en-IN" dirty="0">
                <a:latin typeface="Times New Roman" panose="02020603050405020304" pitchFamily="18" charset="0"/>
                <a:cs typeface="Times New Roman" panose="02020603050405020304" pitchFamily="18" charset="0"/>
              </a:rPr>
              <a:t> utilizes Artificial Intelligence and Natural Language Processing (NLP) techniques to analyses user requirements automatically and generate structured SRS documents.</a:t>
            </a:r>
          </a:p>
          <a:p>
            <a:pPr marL="285750" indent="-285750" algn="just">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The system identifies functional and non-functional requirements, detects inconsistencies, suggests improvements, and generates standardized IEEE-compliant SRS reports. </a:t>
            </a:r>
          </a:p>
          <a:p>
            <a:pPr marL="285750" indent="-285750" algn="just">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This reduces manual effort, improves requirement quality, and accelerates software development life cycles.</a:t>
            </a:r>
          </a:p>
        </p:txBody>
      </p:sp>
      <p:sp>
        <p:nvSpPr>
          <p:cNvPr id="7" name="TextBox 6">
            <a:extLst>
              <a:ext uri="{FF2B5EF4-FFF2-40B4-BE49-F238E27FC236}">
                <a16:creationId xmlns:a16="http://schemas.microsoft.com/office/drawing/2014/main" id="{8A357EE1-F539-9415-2788-5591F59780FE}"/>
              </a:ext>
            </a:extLst>
          </p:cNvPr>
          <p:cNvSpPr txBox="1"/>
          <p:nvPr/>
        </p:nvSpPr>
        <p:spPr>
          <a:xfrm>
            <a:off x="852170" y="5176614"/>
            <a:ext cx="9979660" cy="873572"/>
          </a:xfrm>
          <a:prstGeom prst="rect">
            <a:avLst/>
          </a:prstGeom>
          <a:noFill/>
        </p:spPr>
        <p:txBody>
          <a:bodyPr wrap="square">
            <a:spAutoFit/>
          </a:bodyPr>
          <a:lstStyle/>
          <a:p>
            <a:pPr algn="just">
              <a:lnSpc>
                <a:spcPct val="150000"/>
              </a:lnSpc>
              <a:buNone/>
            </a:pPr>
            <a:r>
              <a:rPr lang="en-IN" b="1" dirty="0">
                <a:latin typeface="Times New Roman" panose="02020603050405020304" pitchFamily="18" charset="0"/>
                <a:cs typeface="Times New Roman" panose="02020603050405020304" pitchFamily="18" charset="0"/>
              </a:rPr>
              <a:t>Keywords:</a:t>
            </a:r>
            <a:r>
              <a:rPr lang="en-IN" dirty="0">
                <a:latin typeface="Times New Roman" panose="02020603050405020304" pitchFamily="18" charset="0"/>
                <a:cs typeface="Times New Roman" panose="02020603050405020304" pitchFamily="18" charset="0"/>
              </a:rPr>
              <a:t> Artificial Intelligence, NLP, Requirement Engineering, SRS Generation, Software Engineering.</a:t>
            </a:r>
          </a:p>
        </p:txBody>
      </p:sp>
    </p:spTree>
    <p:extLst>
      <p:ext uri="{BB962C8B-B14F-4D97-AF65-F5344CB8AC3E}">
        <p14:creationId xmlns:p14="http://schemas.microsoft.com/office/powerpoint/2010/main" val="322274967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DEF9FDC-9B94-4D6A-1750-84B924ABAB17}"/>
              </a:ext>
            </a:extLst>
          </p:cNvPr>
          <p:cNvSpPr txBox="1"/>
          <p:nvPr/>
        </p:nvSpPr>
        <p:spPr>
          <a:xfrm>
            <a:off x="2885440" y="328414"/>
            <a:ext cx="6096000" cy="646331"/>
          </a:xfrm>
          <a:prstGeom prst="rect">
            <a:avLst/>
          </a:prstGeom>
          <a:noFill/>
        </p:spPr>
        <p:txBody>
          <a:bodyPr wrap="square">
            <a:spAutoFit/>
          </a:bodyPr>
          <a:lstStyle/>
          <a:p>
            <a:pPr algn="ctr"/>
            <a:r>
              <a:rPr lang="en-IN" sz="3600" dirty="0">
                <a:solidFill>
                  <a:srgbClr val="FF0000"/>
                </a:solidFill>
                <a:latin typeface="Times New Roman" panose="02020603050405020304" pitchFamily="18" charset="0"/>
                <a:cs typeface="Times New Roman" panose="02020603050405020304" pitchFamily="18" charset="0"/>
              </a:rPr>
              <a:t>INTRODUCTION</a:t>
            </a:r>
          </a:p>
        </p:txBody>
      </p:sp>
      <p:sp>
        <p:nvSpPr>
          <p:cNvPr id="5" name="TextBox 4">
            <a:extLst>
              <a:ext uri="{FF2B5EF4-FFF2-40B4-BE49-F238E27FC236}">
                <a16:creationId xmlns:a16="http://schemas.microsoft.com/office/drawing/2014/main" id="{40D54176-340E-A7FF-AE2A-4F2261161D4D}"/>
              </a:ext>
            </a:extLst>
          </p:cNvPr>
          <p:cNvSpPr txBox="1"/>
          <p:nvPr/>
        </p:nvSpPr>
        <p:spPr>
          <a:xfrm>
            <a:off x="701040" y="1166843"/>
            <a:ext cx="10840720" cy="5444054"/>
          </a:xfrm>
          <a:prstGeom prst="rect">
            <a:avLst/>
          </a:prstGeom>
          <a:noFill/>
        </p:spPr>
        <p:txBody>
          <a:bodyPr wrap="square">
            <a:spAutoFit/>
          </a:bodyPr>
          <a:lstStyle/>
          <a:p>
            <a:pPr>
              <a:lnSpc>
                <a:spcPct val="150000"/>
              </a:lnSpc>
              <a:buNone/>
            </a:pPr>
            <a:r>
              <a:rPr lang="en-IN" dirty="0">
                <a:latin typeface="Times New Roman" panose="02020603050405020304" pitchFamily="18" charset="0"/>
                <a:cs typeface="Times New Roman" panose="02020603050405020304" pitchFamily="18" charset="0"/>
              </a:rPr>
              <a:t>Requirement Engineering is one of the most important phases in </a:t>
            </a:r>
            <a:r>
              <a:rPr lang="en-IN" b="1" dirty="0">
                <a:latin typeface="Times New Roman" panose="02020603050405020304" pitchFamily="18" charset="0"/>
                <a:cs typeface="Times New Roman" panose="02020603050405020304" pitchFamily="18" charset="0"/>
              </a:rPr>
              <a:t>Software Development Life Cycle (SDLC).</a:t>
            </a:r>
            <a:r>
              <a:rPr lang="en-IN" dirty="0">
                <a:latin typeface="Times New Roman" panose="02020603050405020304" pitchFamily="18" charset="0"/>
                <a:cs typeface="Times New Roman" panose="02020603050405020304" pitchFamily="18" charset="0"/>
              </a:rPr>
              <a:t> Poorly defined requirements often result in project delays, increased costs, and software failures.</a:t>
            </a:r>
          </a:p>
          <a:p>
            <a:pPr>
              <a:lnSpc>
                <a:spcPct val="150000"/>
              </a:lnSpc>
              <a:buNone/>
            </a:pPr>
            <a:r>
              <a:rPr lang="en-IN" dirty="0">
                <a:latin typeface="Times New Roman" panose="02020603050405020304" pitchFamily="18" charset="0"/>
                <a:cs typeface="Times New Roman" panose="02020603050405020304" pitchFamily="18" charset="0"/>
              </a:rPr>
              <a:t>Current challenges include:</a:t>
            </a:r>
          </a:p>
          <a:p>
            <a:pPr marL="285750" indent="-285750">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Ambiguous requirement descriptions </a:t>
            </a:r>
          </a:p>
          <a:p>
            <a:pPr marL="285750" indent="-285750">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Incomplete documentation </a:t>
            </a:r>
          </a:p>
          <a:p>
            <a:pPr marL="285750" indent="-285750">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Human errors during analysis </a:t>
            </a:r>
          </a:p>
          <a:p>
            <a:pPr marL="285750" indent="-285750">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Time-consuming SRS preparation </a:t>
            </a:r>
          </a:p>
          <a:p>
            <a:pPr>
              <a:lnSpc>
                <a:spcPct val="150000"/>
              </a:lnSpc>
              <a:buNone/>
            </a:pPr>
            <a:r>
              <a:rPr lang="en-IN" dirty="0">
                <a:latin typeface="Times New Roman" panose="02020603050405020304" pitchFamily="18" charset="0"/>
                <a:cs typeface="Times New Roman" panose="02020603050405020304" pitchFamily="18" charset="0"/>
              </a:rPr>
              <a:t>The proposed system leverages:</a:t>
            </a:r>
          </a:p>
          <a:p>
            <a:pPr marL="285750" indent="-285750">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Artificial Intelligence (AI) </a:t>
            </a:r>
          </a:p>
          <a:p>
            <a:pPr marL="285750" indent="-285750">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Natural Language Processing (NLP) </a:t>
            </a:r>
          </a:p>
          <a:p>
            <a:pPr marL="285750" indent="-285750">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Machine Learning Techniques </a:t>
            </a:r>
          </a:p>
          <a:p>
            <a:pPr>
              <a:lnSpc>
                <a:spcPct val="150000"/>
              </a:lnSpc>
            </a:pPr>
            <a:r>
              <a:rPr lang="en-IN" dirty="0">
                <a:latin typeface="Times New Roman" panose="02020603050405020304" pitchFamily="18" charset="0"/>
                <a:cs typeface="Times New Roman" panose="02020603050405020304" pitchFamily="18" charset="0"/>
              </a:rPr>
              <a:t>To automatically analyses requirements and generate comprehensive Software Requirement Specification (SRS) documents.</a:t>
            </a:r>
          </a:p>
        </p:txBody>
      </p:sp>
    </p:spTree>
    <p:extLst>
      <p:ext uri="{BB962C8B-B14F-4D97-AF65-F5344CB8AC3E}">
        <p14:creationId xmlns:p14="http://schemas.microsoft.com/office/powerpoint/2010/main" val="360631620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3A28DC7B-7133-5DA7-3040-E5AC48428A18}"/>
              </a:ext>
            </a:extLst>
          </p:cNvPr>
          <p:cNvSpPr txBox="1"/>
          <p:nvPr/>
        </p:nvSpPr>
        <p:spPr>
          <a:xfrm>
            <a:off x="3403600" y="226814"/>
            <a:ext cx="6096000" cy="646331"/>
          </a:xfrm>
          <a:prstGeom prst="rect">
            <a:avLst/>
          </a:prstGeom>
          <a:noFill/>
        </p:spPr>
        <p:txBody>
          <a:bodyPr wrap="square">
            <a:spAutoFit/>
          </a:bodyPr>
          <a:lstStyle/>
          <a:p>
            <a:r>
              <a:rPr lang="en-IN" sz="3600" dirty="0">
                <a:solidFill>
                  <a:srgbClr val="FF0000"/>
                </a:solidFill>
                <a:latin typeface="Times New Roman" panose="02020603050405020304" pitchFamily="18" charset="0"/>
                <a:cs typeface="Times New Roman" panose="02020603050405020304" pitchFamily="18" charset="0"/>
              </a:rPr>
              <a:t>PROBLEM STATEMENT</a:t>
            </a:r>
          </a:p>
        </p:txBody>
      </p:sp>
      <p:sp>
        <p:nvSpPr>
          <p:cNvPr id="5" name="TextBox 4">
            <a:extLst>
              <a:ext uri="{FF2B5EF4-FFF2-40B4-BE49-F238E27FC236}">
                <a16:creationId xmlns:a16="http://schemas.microsoft.com/office/drawing/2014/main" id="{22484B8C-BDAA-5BE1-C60A-FB8611E29F98}"/>
              </a:ext>
            </a:extLst>
          </p:cNvPr>
          <p:cNvSpPr txBox="1"/>
          <p:nvPr/>
        </p:nvSpPr>
        <p:spPr>
          <a:xfrm>
            <a:off x="416560" y="873145"/>
            <a:ext cx="9977120" cy="6186309"/>
          </a:xfrm>
          <a:prstGeom prst="rect">
            <a:avLst/>
          </a:prstGeom>
          <a:noFill/>
        </p:spPr>
        <p:txBody>
          <a:bodyPr wrap="square">
            <a:spAutoFit/>
          </a:bodyPr>
          <a:lstStyle/>
          <a:p>
            <a:pPr algn="just">
              <a:lnSpc>
                <a:spcPct val="150000"/>
              </a:lnSpc>
              <a:buNone/>
            </a:pPr>
            <a:r>
              <a:rPr lang="en-IN" dirty="0">
                <a:latin typeface="Times New Roman" panose="02020603050405020304" pitchFamily="18" charset="0"/>
                <a:cs typeface="Times New Roman" panose="02020603050405020304" pitchFamily="18" charset="0"/>
              </a:rPr>
              <a:t>Software development teams often collect requirements in unstructured formats such as emails, meeting notes, or client descriptions.</a:t>
            </a:r>
          </a:p>
          <a:p>
            <a:pPr algn="just">
              <a:lnSpc>
                <a:spcPct val="150000"/>
              </a:lnSpc>
              <a:buNone/>
            </a:pPr>
            <a:r>
              <a:rPr lang="en-IN" b="1" dirty="0">
                <a:latin typeface="Times New Roman" panose="02020603050405020304" pitchFamily="18" charset="0"/>
                <a:cs typeface="Times New Roman" panose="02020603050405020304" pitchFamily="18" charset="0"/>
              </a:rPr>
              <a:t>This creates issues such as:</a:t>
            </a:r>
          </a:p>
          <a:p>
            <a:pPr marL="285750" indent="-285750" algn="just">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Requirement ambiguity </a:t>
            </a:r>
          </a:p>
          <a:p>
            <a:pPr marL="285750" indent="-285750" algn="just">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Missing functional requirements </a:t>
            </a:r>
          </a:p>
          <a:p>
            <a:pPr marL="285750" indent="-285750" algn="just">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Inconsistent documentation </a:t>
            </a:r>
          </a:p>
          <a:p>
            <a:pPr marL="285750" indent="-285750" algn="just">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Increased project risks </a:t>
            </a:r>
          </a:p>
          <a:p>
            <a:pPr marL="285750" indent="-285750" algn="just">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Delays in SRS preparation</a:t>
            </a:r>
          </a:p>
          <a:p>
            <a:pPr algn="just">
              <a:lnSpc>
                <a:spcPct val="150000"/>
              </a:lnSpc>
            </a:pPr>
            <a:r>
              <a:rPr lang="en-IN" b="1" dirty="0">
                <a:latin typeface="Times New Roman" panose="02020603050405020304" pitchFamily="18" charset="0"/>
                <a:cs typeface="Times New Roman" panose="02020603050405020304" pitchFamily="18" charset="0"/>
              </a:rPr>
              <a:t>Expected Benefits</a:t>
            </a:r>
          </a:p>
          <a:p>
            <a:pPr>
              <a:lnSpc>
                <a:spcPct val="150000"/>
              </a:lnSpc>
            </a:pPr>
            <a:r>
              <a:rPr lang="en-IN" dirty="0">
                <a:latin typeface="Times New Roman" panose="02020603050405020304" pitchFamily="18" charset="0"/>
                <a:cs typeface="Times New Roman" panose="02020603050405020304" pitchFamily="18" charset="0"/>
              </a:rPr>
              <a:t>✔ Faster Requirement Processing</a:t>
            </a:r>
            <a:br>
              <a:rPr lang="en-IN" dirty="0">
                <a:latin typeface="Times New Roman" panose="02020603050405020304" pitchFamily="18" charset="0"/>
                <a:cs typeface="Times New Roman" panose="02020603050405020304" pitchFamily="18" charset="0"/>
              </a:rPr>
            </a:br>
            <a:r>
              <a:rPr lang="en-IN" dirty="0">
                <a:latin typeface="Times New Roman" panose="02020603050405020304" pitchFamily="18" charset="0"/>
                <a:cs typeface="Times New Roman" panose="02020603050405020304" pitchFamily="18" charset="0"/>
              </a:rPr>
              <a:t>✔ Improved Accuracy</a:t>
            </a:r>
            <a:br>
              <a:rPr lang="en-IN" dirty="0">
                <a:latin typeface="Times New Roman" panose="02020603050405020304" pitchFamily="18" charset="0"/>
                <a:cs typeface="Times New Roman" panose="02020603050405020304" pitchFamily="18" charset="0"/>
              </a:rPr>
            </a:br>
            <a:r>
              <a:rPr lang="en-IN" dirty="0">
                <a:latin typeface="Times New Roman" panose="02020603050405020304" pitchFamily="18" charset="0"/>
                <a:cs typeface="Times New Roman" panose="02020603050405020304" pitchFamily="18" charset="0"/>
              </a:rPr>
              <a:t>✔ Reduced Human Errors</a:t>
            </a:r>
            <a:br>
              <a:rPr lang="en-IN" dirty="0">
                <a:latin typeface="Times New Roman" panose="02020603050405020304" pitchFamily="18" charset="0"/>
                <a:cs typeface="Times New Roman" panose="02020603050405020304" pitchFamily="18" charset="0"/>
              </a:rPr>
            </a:br>
            <a:r>
              <a:rPr lang="en-IN" dirty="0">
                <a:latin typeface="Times New Roman" panose="02020603050405020304" pitchFamily="18" charset="0"/>
                <a:cs typeface="Times New Roman" panose="02020603050405020304" pitchFamily="18" charset="0"/>
              </a:rPr>
              <a:t>✔ Automated SRS Generation</a:t>
            </a:r>
            <a:br>
              <a:rPr lang="en-IN" dirty="0">
                <a:latin typeface="Times New Roman" panose="02020603050405020304" pitchFamily="18" charset="0"/>
                <a:cs typeface="Times New Roman" panose="02020603050405020304" pitchFamily="18" charset="0"/>
              </a:rPr>
            </a:br>
            <a:r>
              <a:rPr lang="en-IN" dirty="0">
                <a:latin typeface="Times New Roman" panose="02020603050405020304" pitchFamily="18" charset="0"/>
                <a:cs typeface="Times New Roman" panose="02020603050405020304" pitchFamily="18" charset="0"/>
              </a:rPr>
              <a:t>✔ Increased Development Efficiency</a:t>
            </a:r>
          </a:p>
          <a:p>
            <a:endParaRPr lang="en-IN" dirty="0"/>
          </a:p>
        </p:txBody>
      </p:sp>
      <p:pic>
        <p:nvPicPr>
          <p:cNvPr id="6" name="Picture 5">
            <a:extLst>
              <a:ext uri="{FF2B5EF4-FFF2-40B4-BE49-F238E27FC236}">
                <a16:creationId xmlns:a16="http://schemas.microsoft.com/office/drawing/2014/main" id="{F9EF0379-31AA-D00F-F17C-9219A4016A99}"/>
              </a:ext>
            </a:extLst>
          </p:cNvPr>
          <p:cNvPicPr>
            <a:picLocks noChangeAspect="1"/>
          </p:cNvPicPr>
          <p:nvPr/>
        </p:nvPicPr>
        <p:blipFill>
          <a:blip r:embed="rId2"/>
          <a:srcRect r="47396"/>
          <a:stretch>
            <a:fillRect/>
          </a:stretch>
        </p:blipFill>
        <p:spPr>
          <a:xfrm>
            <a:off x="5801361" y="1519477"/>
            <a:ext cx="5841999" cy="5111710"/>
          </a:xfrm>
          <a:prstGeom prst="rect">
            <a:avLst/>
          </a:prstGeom>
        </p:spPr>
      </p:pic>
    </p:spTree>
    <p:extLst>
      <p:ext uri="{BB962C8B-B14F-4D97-AF65-F5344CB8AC3E}">
        <p14:creationId xmlns:p14="http://schemas.microsoft.com/office/powerpoint/2010/main" val="356208599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A20FA342-C8FF-11A5-8DCB-88889F6309C9}"/>
              </a:ext>
            </a:extLst>
          </p:cNvPr>
          <p:cNvSpPr txBox="1"/>
          <p:nvPr/>
        </p:nvSpPr>
        <p:spPr>
          <a:xfrm>
            <a:off x="3566160" y="196334"/>
            <a:ext cx="6096000" cy="646331"/>
          </a:xfrm>
          <a:prstGeom prst="rect">
            <a:avLst/>
          </a:prstGeom>
          <a:noFill/>
        </p:spPr>
        <p:txBody>
          <a:bodyPr wrap="square">
            <a:spAutoFit/>
          </a:bodyPr>
          <a:lstStyle/>
          <a:p>
            <a:r>
              <a:rPr lang="en-IN" sz="3600" dirty="0">
                <a:solidFill>
                  <a:srgbClr val="FF0000"/>
                </a:solidFill>
                <a:latin typeface="Times New Roman" panose="02020603050405020304" pitchFamily="18" charset="0"/>
                <a:cs typeface="Times New Roman" panose="02020603050405020304" pitchFamily="18" charset="0"/>
              </a:rPr>
              <a:t>LITERATURE REVIEW</a:t>
            </a:r>
          </a:p>
        </p:txBody>
      </p:sp>
      <p:graphicFrame>
        <p:nvGraphicFramePr>
          <p:cNvPr id="4" name="Table 3">
            <a:extLst>
              <a:ext uri="{FF2B5EF4-FFF2-40B4-BE49-F238E27FC236}">
                <a16:creationId xmlns:a16="http://schemas.microsoft.com/office/drawing/2014/main" id="{281BE853-8382-6BF0-18E0-6587DA060E3F}"/>
              </a:ext>
            </a:extLst>
          </p:cNvPr>
          <p:cNvGraphicFramePr>
            <a:graphicFrameLocks noGrp="1"/>
          </p:cNvGraphicFramePr>
          <p:nvPr>
            <p:extLst>
              <p:ext uri="{D42A27DB-BD31-4B8C-83A1-F6EECF244321}">
                <p14:modId xmlns:p14="http://schemas.microsoft.com/office/powerpoint/2010/main" val="1969109846"/>
              </p:ext>
            </p:extLst>
          </p:nvPr>
        </p:nvGraphicFramePr>
        <p:xfrm>
          <a:off x="1925967" y="1825625"/>
          <a:ext cx="8340065" cy="4351338"/>
        </p:xfrm>
        <a:graphic>
          <a:graphicData uri="http://schemas.openxmlformats.org/drawingml/2006/table">
            <a:tbl>
              <a:tblPr/>
              <a:tblGrid>
                <a:gridCol w="1668013">
                  <a:extLst>
                    <a:ext uri="{9D8B030D-6E8A-4147-A177-3AD203B41FA5}">
                      <a16:colId xmlns:a16="http://schemas.microsoft.com/office/drawing/2014/main" val="3152094553"/>
                    </a:ext>
                  </a:extLst>
                </a:gridCol>
                <a:gridCol w="1668013">
                  <a:extLst>
                    <a:ext uri="{9D8B030D-6E8A-4147-A177-3AD203B41FA5}">
                      <a16:colId xmlns:a16="http://schemas.microsoft.com/office/drawing/2014/main" val="1862030141"/>
                    </a:ext>
                  </a:extLst>
                </a:gridCol>
                <a:gridCol w="1668013">
                  <a:extLst>
                    <a:ext uri="{9D8B030D-6E8A-4147-A177-3AD203B41FA5}">
                      <a16:colId xmlns:a16="http://schemas.microsoft.com/office/drawing/2014/main" val="4275974347"/>
                    </a:ext>
                  </a:extLst>
                </a:gridCol>
                <a:gridCol w="1668013">
                  <a:extLst>
                    <a:ext uri="{9D8B030D-6E8A-4147-A177-3AD203B41FA5}">
                      <a16:colId xmlns:a16="http://schemas.microsoft.com/office/drawing/2014/main" val="827577676"/>
                    </a:ext>
                  </a:extLst>
                </a:gridCol>
                <a:gridCol w="1668013">
                  <a:extLst>
                    <a:ext uri="{9D8B030D-6E8A-4147-A177-3AD203B41FA5}">
                      <a16:colId xmlns:a16="http://schemas.microsoft.com/office/drawing/2014/main" val="1509786585"/>
                    </a:ext>
                  </a:extLst>
                </a:gridCol>
              </a:tblGrid>
              <a:tr h="290089">
                <a:tc>
                  <a:txBody>
                    <a:bodyPr/>
                    <a:lstStyle/>
                    <a:p>
                      <a:pPr>
                        <a:buNone/>
                      </a:pPr>
                      <a:endParaRPr lang="en-IN" sz="1400" dirty="0"/>
                    </a:p>
                  </a:txBody>
                  <a:tcPr marL="72522" marR="72522" marT="36261" marB="36261" anchor="ctr">
                    <a:lnL>
                      <a:noFill/>
                    </a:lnL>
                    <a:lnR>
                      <a:noFill/>
                    </a:lnR>
                    <a:lnT>
                      <a:noFill/>
                    </a:lnT>
                    <a:lnB>
                      <a:noFill/>
                    </a:lnB>
                    <a:noFill/>
                  </a:tcPr>
                </a:tc>
                <a:tc>
                  <a:txBody>
                    <a:bodyPr/>
                    <a:lstStyle/>
                    <a:p>
                      <a:pPr>
                        <a:buNone/>
                      </a:pPr>
                      <a:endParaRPr lang="en-IN" sz="1400"/>
                    </a:p>
                  </a:txBody>
                  <a:tcPr marL="72522" marR="72522" marT="36261" marB="36261" anchor="ctr">
                    <a:lnL>
                      <a:noFill/>
                    </a:lnL>
                    <a:lnR>
                      <a:noFill/>
                    </a:lnR>
                    <a:lnT>
                      <a:noFill/>
                    </a:lnT>
                    <a:lnB>
                      <a:noFill/>
                    </a:lnB>
                    <a:noFill/>
                  </a:tcPr>
                </a:tc>
                <a:tc>
                  <a:txBody>
                    <a:bodyPr/>
                    <a:lstStyle/>
                    <a:p>
                      <a:pPr>
                        <a:buNone/>
                      </a:pPr>
                      <a:endParaRPr lang="en-IN" sz="1400"/>
                    </a:p>
                  </a:txBody>
                  <a:tcPr marL="72522" marR="72522" marT="36261" marB="36261" anchor="ctr">
                    <a:lnL>
                      <a:noFill/>
                    </a:lnL>
                    <a:lnR>
                      <a:noFill/>
                    </a:lnR>
                    <a:lnT>
                      <a:noFill/>
                    </a:lnT>
                    <a:lnB>
                      <a:noFill/>
                    </a:lnB>
                    <a:noFill/>
                  </a:tcPr>
                </a:tc>
                <a:tc>
                  <a:txBody>
                    <a:bodyPr/>
                    <a:lstStyle/>
                    <a:p>
                      <a:pPr>
                        <a:buNone/>
                      </a:pPr>
                      <a:endParaRPr lang="en-IN" sz="1400"/>
                    </a:p>
                  </a:txBody>
                  <a:tcPr marL="72522" marR="72522" marT="36261" marB="36261" anchor="ctr">
                    <a:lnL>
                      <a:noFill/>
                    </a:lnL>
                    <a:lnR>
                      <a:noFill/>
                    </a:lnR>
                    <a:lnT>
                      <a:noFill/>
                    </a:lnT>
                    <a:lnB>
                      <a:noFill/>
                    </a:lnB>
                    <a:noFill/>
                  </a:tcPr>
                </a:tc>
                <a:tc>
                  <a:txBody>
                    <a:bodyPr/>
                    <a:lstStyle/>
                    <a:p>
                      <a:pPr>
                        <a:buNone/>
                      </a:pPr>
                      <a:endParaRPr lang="en-IN" sz="1400"/>
                    </a:p>
                  </a:txBody>
                  <a:tcPr marL="72522" marR="72522" marT="36261" marB="36261" anchor="ctr">
                    <a:lnL>
                      <a:noFill/>
                    </a:lnL>
                    <a:lnR>
                      <a:noFill/>
                    </a:lnR>
                    <a:lnT>
                      <a:noFill/>
                    </a:lnT>
                    <a:lnB>
                      <a:noFill/>
                    </a:lnB>
                    <a:noFill/>
                  </a:tcPr>
                </a:tc>
                <a:extLst>
                  <a:ext uri="{0D108BD9-81ED-4DB2-BD59-A6C34878D82A}">
                    <a16:rowId xmlns:a16="http://schemas.microsoft.com/office/drawing/2014/main" val="370329188"/>
                  </a:ext>
                </a:extLst>
              </a:tr>
              <a:tr h="725223">
                <a:tc>
                  <a:txBody>
                    <a:bodyPr/>
                    <a:lstStyle/>
                    <a:p>
                      <a:pPr>
                        <a:buNone/>
                      </a:pPr>
                      <a:endParaRPr lang="en-IN" sz="1400" dirty="0"/>
                    </a:p>
                  </a:txBody>
                  <a:tcPr marL="72522" marR="72522" marT="36261" marB="36261" anchor="ctr">
                    <a:lnL>
                      <a:noFill/>
                    </a:lnL>
                    <a:lnR>
                      <a:noFill/>
                    </a:lnR>
                    <a:lnT>
                      <a:noFill/>
                    </a:lnT>
                    <a:lnB>
                      <a:noFill/>
                    </a:lnB>
                    <a:noFill/>
                  </a:tcPr>
                </a:tc>
                <a:tc>
                  <a:txBody>
                    <a:bodyPr/>
                    <a:lstStyle/>
                    <a:p>
                      <a:pPr>
                        <a:buNone/>
                      </a:pPr>
                      <a:endParaRPr lang="en-IN" sz="1400"/>
                    </a:p>
                  </a:txBody>
                  <a:tcPr marL="72522" marR="72522" marT="36261" marB="36261" anchor="ctr">
                    <a:lnL>
                      <a:noFill/>
                    </a:lnL>
                    <a:lnR>
                      <a:noFill/>
                    </a:lnR>
                    <a:lnT>
                      <a:noFill/>
                    </a:lnT>
                    <a:lnB>
                      <a:noFill/>
                    </a:lnB>
                    <a:noFill/>
                  </a:tcPr>
                </a:tc>
                <a:tc>
                  <a:txBody>
                    <a:bodyPr/>
                    <a:lstStyle/>
                    <a:p>
                      <a:pPr>
                        <a:buNone/>
                      </a:pPr>
                      <a:endParaRPr lang="en-IN" sz="1400"/>
                    </a:p>
                  </a:txBody>
                  <a:tcPr marL="72522" marR="72522" marT="36261" marB="36261" anchor="ctr">
                    <a:lnL>
                      <a:noFill/>
                    </a:lnL>
                    <a:lnR>
                      <a:noFill/>
                    </a:lnR>
                    <a:lnT>
                      <a:noFill/>
                    </a:lnT>
                    <a:lnB>
                      <a:noFill/>
                    </a:lnB>
                    <a:noFill/>
                  </a:tcPr>
                </a:tc>
                <a:tc>
                  <a:txBody>
                    <a:bodyPr/>
                    <a:lstStyle/>
                    <a:p>
                      <a:pPr>
                        <a:buNone/>
                      </a:pPr>
                      <a:endParaRPr lang="en-IN" sz="1400"/>
                    </a:p>
                  </a:txBody>
                  <a:tcPr marL="72522" marR="72522" marT="36261" marB="36261" anchor="ctr">
                    <a:lnL>
                      <a:noFill/>
                    </a:lnL>
                    <a:lnR>
                      <a:noFill/>
                    </a:lnR>
                    <a:lnT>
                      <a:noFill/>
                    </a:lnT>
                    <a:lnB>
                      <a:noFill/>
                    </a:lnB>
                    <a:noFill/>
                  </a:tcPr>
                </a:tc>
                <a:tc>
                  <a:txBody>
                    <a:bodyPr/>
                    <a:lstStyle/>
                    <a:p>
                      <a:pPr>
                        <a:buNone/>
                      </a:pPr>
                      <a:endParaRPr lang="en-IN" sz="1400"/>
                    </a:p>
                  </a:txBody>
                  <a:tcPr marL="72522" marR="72522" marT="36261" marB="36261" anchor="ctr">
                    <a:lnL>
                      <a:noFill/>
                    </a:lnL>
                    <a:lnR>
                      <a:noFill/>
                    </a:lnR>
                    <a:lnT>
                      <a:noFill/>
                    </a:lnT>
                    <a:lnB>
                      <a:noFill/>
                    </a:lnB>
                    <a:noFill/>
                  </a:tcPr>
                </a:tc>
                <a:extLst>
                  <a:ext uri="{0D108BD9-81ED-4DB2-BD59-A6C34878D82A}">
                    <a16:rowId xmlns:a16="http://schemas.microsoft.com/office/drawing/2014/main" val="3477183933"/>
                  </a:ext>
                </a:extLst>
              </a:tr>
              <a:tr h="942790">
                <a:tc>
                  <a:txBody>
                    <a:bodyPr/>
                    <a:lstStyle/>
                    <a:p>
                      <a:pPr>
                        <a:buNone/>
                      </a:pPr>
                      <a:endParaRPr lang="en-IN" sz="1400"/>
                    </a:p>
                  </a:txBody>
                  <a:tcPr marL="72522" marR="72522" marT="36261" marB="36261" anchor="ctr">
                    <a:lnL>
                      <a:noFill/>
                    </a:lnL>
                    <a:lnR>
                      <a:noFill/>
                    </a:lnR>
                    <a:lnT>
                      <a:noFill/>
                    </a:lnT>
                    <a:lnB>
                      <a:noFill/>
                    </a:lnB>
                    <a:noFill/>
                  </a:tcPr>
                </a:tc>
                <a:tc>
                  <a:txBody>
                    <a:bodyPr/>
                    <a:lstStyle/>
                    <a:p>
                      <a:pPr>
                        <a:buNone/>
                      </a:pPr>
                      <a:endParaRPr lang="en-IN" sz="1400"/>
                    </a:p>
                  </a:txBody>
                  <a:tcPr marL="72522" marR="72522" marT="36261" marB="36261" anchor="ctr">
                    <a:lnL>
                      <a:noFill/>
                    </a:lnL>
                    <a:lnR>
                      <a:noFill/>
                    </a:lnR>
                    <a:lnT>
                      <a:noFill/>
                    </a:lnT>
                    <a:lnB>
                      <a:noFill/>
                    </a:lnB>
                    <a:noFill/>
                  </a:tcPr>
                </a:tc>
                <a:tc>
                  <a:txBody>
                    <a:bodyPr/>
                    <a:lstStyle/>
                    <a:p>
                      <a:pPr>
                        <a:buNone/>
                      </a:pPr>
                      <a:endParaRPr lang="en-IN" sz="1400"/>
                    </a:p>
                  </a:txBody>
                  <a:tcPr marL="72522" marR="72522" marT="36261" marB="36261" anchor="ctr">
                    <a:lnL>
                      <a:noFill/>
                    </a:lnL>
                    <a:lnR>
                      <a:noFill/>
                    </a:lnR>
                    <a:lnT>
                      <a:noFill/>
                    </a:lnT>
                    <a:lnB>
                      <a:noFill/>
                    </a:lnB>
                    <a:noFill/>
                  </a:tcPr>
                </a:tc>
                <a:tc>
                  <a:txBody>
                    <a:bodyPr/>
                    <a:lstStyle/>
                    <a:p>
                      <a:pPr>
                        <a:buNone/>
                      </a:pPr>
                      <a:endParaRPr lang="en-IN" sz="1400"/>
                    </a:p>
                  </a:txBody>
                  <a:tcPr marL="72522" marR="72522" marT="36261" marB="36261" anchor="ctr">
                    <a:lnL>
                      <a:noFill/>
                    </a:lnL>
                    <a:lnR>
                      <a:noFill/>
                    </a:lnR>
                    <a:lnT>
                      <a:noFill/>
                    </a:lnT>
                    <a:lnB>
                      <a:noFill/>
                    </a:lnB>
                    <a:noFill/>
                  </a:tcPr>
                </a:tc>
                <a:tc>
                  <a:txBody>
                    <a:bodyPr/>
                    <a:lstStyle/>
                    <a:p>
                      <a:pPr>
                        <a:buNone/>
                      </a:pPr>
                      <a:endParaRPr lang="en-IN" sz="1400"/>
                    </a:p>
                  </a:txBody>
                  <a:tcPr marL="72522" marR="72522" marT="36261" marB="36261" anchor="ctr">
                    <a:lnL>
                      <a:noFill/>
                    </a:lnL>
                    <a:lnR>
                      <a:noFill/>
                    </a:lnR>
                    <a:lnT>
                      <a:noFill/>
                    </a:lnT>
                    <a:lnB>
                      <a:noFill/>
                    </a:lnB>
                    <a:noFill/>
                  </a:tcPr>
                </a:tc>
                <a:extLst>
                  <a:ext uri="{0D108BD9-81ED-4DB2-BD59-A6C34878D82A}">
                    <a16:rowId xmlns:a16="http://schemas.microsoft.com/office/drawing/2014/main" val="485537263"/>
                  </a:ext>
                </a:extLst>
              </a:tr>
              <a:tr h="725223">
                <a:tc>
                  <a:txBody>
                    <a:bodyPr/>
                    <a:lstStyle/>
                    <a:p>
                      <a:pPr>
                        <a:buNone/>
                      </a:pPr>
                      <a:endParaRPr lang="en-IN" sz="1400"/>
                    </a:p>
                  </a:txBody>
                  <a:tcPr marL="72522" marR="72522" marT="36261" marB="36261" anchor="ctr">
                    <a:lnL>
                      <a:noFill/>
                    </a:lnL>
                    <a:lnR>
                      <a:noFill/>
                    </a:lnR>
                    <a:lnT>
                      <a:noFill/>
                    </a:lnT>
                    <a:lnB>
                      <a:noFill/>
                    </a:lnB>
                    <a:noFill/>
                  </a:tcPr>
                </a:tc>
                <a:tc>
                  <a:txBody>
                    <a:bodyPr/>
                    <a:lstStyle/>
                    <a:p>
                      <a:pPr>
                        <a:buNone/>
                      </a:pPr>
                      <a:endParaRPr lang="en-IN" sz="1400"/>
                    </a:p>
                  </a:txBody>
                  <a:tcPr marL="72522" marR="72522" marT="36261" marB="36261" anchor="ctr">
                    <a:lnL>
                      <a:noFill/>
                    </a:lnL>
                    <a:lnR>
                      <a:noFill/>
                    </a:lnR>
                    <a:lnT>
                      <a:noFill/>
                    </a:lnT>
                    <a:lnB>
                      <a:noFill/>
                    </a:lnB>
                    <a:noFill/>
                  </a:tcPr>
                </a:tc>
                <a:tc>
                  <a:txBody>
                    <a:bodyPr/>
                    <a:lstStyle/>
                    <a:p>
                      <a:pPr>
                        <a:buNone/>
                      </a:pPr>
                      <a:endParaRPr lang="en-IN" sz="1400"/>
                    </a:p>
                  </a:txBody>
                  <a:tcPr marL="72522" marR="72522" marT="36261" marB="36261" anchor="ctr">
                    <a:lnL>
                      <a:noFill/>
                    </a:lnL>
                    <a:lnR>
                      <a:noFill/>
                    </a:lnR>
                    <a:lnT>
                      <a:noFill/>
                    </a:lnT>
                    <a:lnB>
                      <a:noFill/>
                    </a:lnB>
                    <a:noFill/>
                  </a:tcPr>
                </a:tc>
                <a:tc>
                  <a:txBody>
                    <a:bodyPr/>
                    <a:lstStyle/>
                    <a:p>
                      <a:pPr>
                        <a:buNone/>
                      </a:pPr>
                      <a:endParaRPr lang="en-IN" sz="1400"/>
                    </a:p>
                  </a:txBody>
                  <a:tcPr marL="72522" marR="72522" marT="36261" marB="36261" anchor="ctr">
                    <a:lnL>
                      <a:noFill/>
                    </a:lnL>
                    <a:lnR>
                      <a:noFill/>
                    </a:lnR>
                    <a:lnT>
                      <a:noFill/>
                    </a:lnT>
                    <a:lnB>
                      <a:noFill/>
                    </a:lnB>
                    <a:noFill/>
                  </a:tcPr>
                </a:tc>
                <a:tc>
                  <a:txBody>
                    <a:bodyPr/>
                    <a:lstStyle/>
                    <a:p>
                      <a:pPr>
                        <a:buNone/>
                      </a:pPr>
                      <a:endParaRPr lang="en-IN" sz="1400"/>
                    </a:p>
                  </a:txBody>
                  <a:tcPr marL="72522" marR="72522" marT="36261" marB="36261" anchor="ctr">
                    <a:lnL>
                      <a:noFill/>
                    </a:lnL>
                    <a:lnR>
                      <a:noFill/>
                    </a:lnR>
                    <a:lnT>
                      <a:noFill/>
                    </a:lnT>
                    <a:lnB>
                      <a:noFill/>
                    </a:lnB>
                    <a:noFill/>
                  </a:tcPr>
                </a:tc>
                <a:extLst>
                  <a:ext uri="{0D108BD9-81ED-4DB2-BD59-A6C34878D82A}">
                    <a16:rowId xmlns:a16="http://schemas.microsoft.com/office/drawing/2014/main" val="93598094"/>
                  </a:ext>
                </a:extLst>
              </a:tr>
              <a:tr h="725223">
                <a:tc>
                  <a:txBody>
                    <a:bodyPr/>
                    <a:lstStyle/>
                    <a:p>
                      <a:pPr>
                        <a:buNone/>
                      </a:pPr>
                      <a:endParaRPr lang="en-IN" sz="1400" dirty="0"/>
                    </a:p>
                  </a:txBody>
                  <a:tcPr marL="72522" marR="72522" marT="36261" marB="36261" anchor="ctr">
                    <a:lnL>
                      <a:noFill/>
                    </a:lnL>
                    <a:lnR>
                      <a:noFill/>
                    </a:lnR>
                    <a:lnT>
                      <a:noFill/>
                    </a:lnT>
                    <a:lnB>
                      <a:noFill/>
                    </a:lnB>
                    <a:noFill/>
                  </a:tcPr>
                </a:tc>
                <a:tc>
                  <a:txBody>
                    <a:bodyPr/>
                    <a:lstStyle/>
                    <a:p>
                      <a:pPr>
                        <a:buNone/>
                      </a:pPr>
                      <a:endParaRPr lang="en-IN" sz="1400"/>
                    </a:p>
                  </a:txBody>
                  <a:tcPr marL="72522" marR="72522" marT="36261" marB="36261" anchor="ctr">
                    <a:lnL>
                      <a:noFill/>
                    </a:lnL>
                    <a:lnR>
                      <a:noFill/>
                    </a:lnR>
                    <a:lnT>
                      <a:noFill/>
                    </a:lnT>
                    <a:lnB>
                      <a:noFill/>
                    </a:lnB>
                    <a:noFill/>
                  </a:tcPr>
                </a:tc>
                <a:tc>
                  <a:txBody>
                    <a:bodyPr/>
                    <a:lstStyle/>
                    <a:p>
                      <a:pPr>
                        <a:buNone/>
                      </a:pPr>
                      <a:endParaRPr lang="en-IN" sz="1400"/>
                    </a:p>
                  </a:txBody>
                  <a:tcPr marL="72522" marR="72522" marT="36261" marB="36261" anchor="ctr">
                    <a:lnL>
                      <a:noFill/>
                    </a:lnL>
                    <a:lnR>
                      <a:noFill/>
                    </a:lnR>
                    <a:lnT>
                      <a:noFill/>
                    </a:lnT>
                    <a:lnB>
                      <a:noFill/>
                    </a:lnB>
                    <a:noFill/>
                  </a:tcPr>
                </a:tc>
                <a:tc>
                  <a:txBody>
                    <a:bodyPr/>
                    <a:lstStyle/>
                    <a:p>
                      <a:pPr>
                        <a:buNone/>
                      </a:pPr>
                      <a:endParaRPr lang="en-IN" sz="1400"/>
                    </a:p>
                  </a:txBody>
                  <a:tcPr marL="72522" marR="72522" marT="36261" marB="36261" anchor="ctr">
                    <a:lnL>
                      <a:noFill/>
                    </a:lnL>
                    <a:lnR>
                      <a:noFill/>
                    </a:lnR>
                    <a:lnT>
                      <a:noFill/>
                    </a:lnT>
                    <a:lnB>
                      <a:noFill/>
                    </a:lnB>
                    <a:noFill/>
                  </a:tcPr>
                </a:tc>
                <a:tc>
                  <a:txBody>
                    <a:bodyPr/>
                    <a:lstStyle/>
                    <a:p>
                      <a:pPr>
                        <a:buNone/>
                      </a:pPr>
                      <a:endParaRPr lang="en-IN" sz="1400"/>
                    </a:p>
                  </a:txBody>
                  <a:tcPr marL="72522" marR="72522" marT="36261" marB="36261" anchor="ctr">
                    <a:lnL>
                      <a:noFill/>
                    </a:lnL>
                    <a:lnR>
                      <a:noFill/>
                    </a:lnR>
                    <a:lnT>
                      <a:noFill/>
                    </a:lnT>
                    <a:lnB>
                      <a:noFill/>
                    </a:lnB>
                    <a:noFill/>
                  </a:tcPr>
                </a:tc>
                <a:extLst>
                  <a:ext uri="{0D108BD9-81ED-4DB2-BD59-A6C34878D82A}">
                    <a16:rowId xmlns:a16="http://schemas.microsoft.com/office/drawing/2014/main" val="1261932384"/>
                  </a:ext>
                </a:extLst>
              </a:tr>
              <a:tr h="942790">
                <a:tc>
                  <a:txBody>
                    <a:bodyPr/>
                    <a:lstStyle/>
                    <a:p>
                      <a:pPr>
                        <a:buNone/>
                      </a:pPr>
                      <a:endParaRPr lang="en-IN" sz="1400"/>
                    </a:p>
                  </a:txBody>
                  <a:tcPr marL="72522" marR="72522" marT="36261" marB="36261" anchor="ctr">
                    <a:lnL>
                      <a:noFill/>
                    </a:lnL>
                    <a:lnR>
                      <a:noFill/>
                    </a:lnR>
                    <a:lnT>
                      <a:noFill/>
                    </a:lnT>
                    <a:lnB>
                      <a:noFill/>
                    </a:lnB>
                    <a:noFill/>
                  </a:tcPr>
                </a:tc>
                <a:tc>
                  <a:txBody>
                    <a:bodyPr/>
                    <a:lstStyle/>
                    <a:p>
                      <a:pPr>
                        <a:buNone/>
                      </a:pPr>
                      <a:endParaRPr lang="en-IN" sz="1400"/>
                    </a:p>
                  </a:txBody>
                  <a:tcPr marL="72522" marR="72522" marT="36261" marB="36261" anchor="ctr">
                    <a:lnL>
                      <a:noFill/>
                    </a:lnL>
                    <a:lnR>
                      <a:noFill/>
                    </a:lnR>
                    <a:lnT>
                      <a:noFill/>
                    </a:lnT>
                    <a:lnB>
                      <a:noFill/>
                    </a:lnB>
                    <a:noFill/>
                  </a:tcPr>
                </a:tc>
                <a:tc>
                  <a:txBody>
                    <a:bodyPr/>
                    <a:lstStyle/>
                    <a:p>
                      <a:pPr>
                        <a:buNone/>
                      </a:pPr>
                      <a:endParaRPr lang="en-IN" sz="1400"/>
                    </a:p>
                  </a:txBody>
                  <a:tcPr marL="72522" marR="72522" marT="36261" marB="36261" anchor="ctr">
                    <a:lnL>
                      <a:noFill/>
                    </a:lnL>
                    <a:lnR>
                      <a:noFill/>
                    </a:lnR>
                    <a:lnT>
                      <a:noFill/>
                    </a:lnT>
                    <a:lnB>
                      <a:noFill/>
                    </a:lnB>
                    <a:noFill/>
                  </a:tcPr>
                </a:tc>
                <a:tc>
                  <a:txBody>
                    <a:bodyPr/>
                    <a:lstStyle/>
                    <a:p>
                      <a:pPr>
                        <a:buNone/>
                      </a:pPr>
                      <a:endParaRPr lang="en-IN" sz="1400"/>
                    </a:p>
                  </a:txBody>
                  <a:tcPr marL="72522" marR="72522" marT="36261" marB="36261" anchor="ctr">
                    <a:lnL>
                      <a:noFill/>
                    </a:lnL>
                    <a:lnR>
                      <a:noFill/>
                    </a:lnR>
                    <a:lnT>
                      <a:noFill/>
                    </a:lnT>
                    <a:lnB>
                      <a:noFill/>
                    </a:lnB>
                    <a:noFill/>
                  </a:tcPr>
                </a:tc>
                <a:tc>
                  <a:txBody>
                    <a:bodyPr/>
                    <a:lstStyle/>
                    <a:p>
                      <a:pPr>
                        <a:buNone/>
                      </a:pPr>
                      <a:endParaRPr lang="en-IN" sz="1400" dirty="0"/>
                    </a:p>
                  </a:txBody>
                  <a:tcPr marL="72522" marR="72522" marT="36261" marB="36261" anchor="ctr">
                    <a:lnL>
                      <a:noFill/>
                    </a:lnL>
                    <a:lnR>
                      <a:noFill/>
                    </a:lnR>
                    <a:lnT>
                      <a:noFill/>
                    </a:lnT>
                    <a:lnB>
                      <a:noFill/>
                    </a:lnB>
                    <a:noFill/>
                  </a:tcPr>
                </a:tc>
                <a:extLst>
                  <a:ext uri="{0D108BD9-81ED-4DB2-BD59-A6C34878D82A}">
                    <a16:rowId xmlns:a16="http://schemas.microsoft.com/office/drawing/2014/main" val="1283266303"/>
                  </a:ext>
                </a:extLst>
              </a:tr>
            </a:tbl>
          </a:graphicData>
        </a:graphic>
      </p:graphicFrame>
      <p:graphicFrame>
        <p:nvGraphicFramePr>
          <p:cNvPr id="5" name="Table 4">
            <a:extLst>
              <a:ext uri="{FF2B5EF4-FFF2-40B4-BE49-F238E27FC236}">
                <a16:creationId xmlns:a16="http://schemas.microsoft.com/office/drawing/2014/main" id="{A003DF62-AB79-2196-E274-13C4D0B8E3A6}"/>
              </a:ext>
            </a:extLst>
          </p:cNvPr>
          <p:cNvGraphicFramePr>
            <a:graphicFrameLocks noGrp="1"/>
          </p:cNvGraphicFramePr>
          <p:nvPr>
            <p:extLst>
              <p:ext uri="{D42A27DB-BD31-4B8C-83A1-F6EECF244321}">
                <p14:modId xmlns:p14="http://schemas.microsoft.com/office/powerpoint/2010/main" val="1654635976"/>
              </p:ext>
            </p:extLst>
          </p:nvPr>
        </p:nvGraphicFramePr>
        <p:xfrm>
          <a:off x="0" y="1020778"/>
          <a:ext cx="12192000" cy="5837221"/>
        </p:xfrm>
        <a:graphic>
          <a:graphicData uri="http://schemas.openxmlformats.org/drawingml/2006/table">
            <a:tbl>
              <a:tblPr firstRow="1" bandRow="1">
                <a:tableStyleId>{5C22544A-7EE6-4342-B048-85BDC9FD1C3A}</a:tableStyleId>
              </a:tblPr>
              <a:tblGrid>
                <a:gridCol w="2438400">
                  <a:extLst>
                    <a:ext uri="{9D8B030D-6E8A-4147-A177-3AD203B41FA5}">
                      <a16:colId xmlns:a16="http://schemas.microsoft.com/office/drawing/2014/main" val="4096503012"/>
                    </a:ext>
                  </a:extLst>
                </a:gridCol>
                <a:gridCol w="2438400">
                  <a:extLst>
                    <a:ext uri="{9D8B030D-6E8A-4147-A177-3AD203B41FA5}">
                      <a16:colId xmlns:a16="http://schemas.microsoft.com/office/drawing/2014/main" val="3768142884"/>
                    </a:ext>
                  </a:extLst>
                </a:gridCol>
                <a:gridCol w="2438400">
                  <a:extLst>
                    <a:ext uri="{9D8B030D-6E8A-4147-A177-3AD203B41FA5}">
                      <a16:colId xmlns:a16="http://schemas.microsoft.com/office/drawing/2014/main" val="3358758950"/>
                    </a:ext>
                  </a:extLst>
                </a:gridCol>
                <a:gridCol w="2438400">
                  <a:extLst>
                    <a:ext uri="{9D8B030D-6E8A-4147-A177-3AD203B41FA5}">
                      <a16:colId xmlns:a16="http://schemas.microsoft.com/office/drawing/2014/main" val="3094510539"/>
                    </a:ext>
                  </a:extLst>
                </a:gridCol>
                <a:gridCol w="2438400">
                  <a:extLst>
                    <a:ext uri="{9D8B030D-6E8A-4147-A177-3AD203B41FA5}">
                      <a16:colId xmlns:a16="http://schemas.microsoft.com/office/drawing/2014/main" val="2343062528"/>
                    </a:ext>
                  </a:extLst>
                </a:gridCol>
              </a:tblGrid>
              <a:tr h="493938">
                <a:tc>
                  <a:txBody>
                    <a:bodyPr/>
                    <a:lstStyle/>
                    <a:p>
                      <a:pPr algn="ctr">
                        <a:lnSpc>
                          <a:spcPct val="150000"/>
                        </a:lnSpc>
                        <a:buNone/>
                      </a:pPr>
                      <a:r>
                        <a:rPr lang="en-IN" sz="1400" dirty="0">
                          <a:latin typeface="Times New Roman" panose="02020603050405020304" pitchFamily="18" charset="0"/>
                          <a:cs typeface="Times New Roman" panose="02020603050405020304" pitchFamily="18" charset="0"/>
                        </a:rPr>
                        <a:t>Author</a:t>
                      </a:r>
                    </a:p>
                  </a:txBody>
                  <a:tcPr marL="72522" marR="72522" marT="36261" marB="36261" anchor="ctr"/>
                </a:tc>
                <a:tc>
                  <a:txBody>
                    <a:bodyPr/>
                    <a:lstStyle/>
                    <a:p>
                      <a:pPr algn="ctr">
                        <a:lnSpc>
                          <a:spcPct val="150000"/>
                        </a:lnSpc>
                        <a:buNone/>
                      </a:pPr>
                      <a:r>
                        <a:rPr lang="en-IN" sz="1400">
                          <a:latin typeface="Times New Roman" panose="02020603050405020304" pitchFamily="18" charset="0"/>
                          <a:cs typeface="Times New Roman" panose="02020603050405020304" pitchFamily="18" charset="0"/>
                        </a:rPr>
                        <a:t>Year</a:t>
                      </a:r>
                    </a:p>
                  </a:txBody>
                  <a:tcPr marL="72522" marR="72522" marT="36261" marB="36261" anchor="ctr"/>
                </a:tc>
                <a:tc>
                  <a:txBody>
                    <a:bodyPr/>
                    <a:lstStyle/>
                    <a:p>
                      <a:pPr algn="ctr">
                        <a:lnSpc>
                          <a:spcPct val="150000"/>
                        </a:lnSpc>
                        <a:buNone/>
                      </a:pPr>
                      <a:r>
                        <a:rPr lang="en-IN" sz="1400">
                          <a:latin typeface="Times New Roman" panose="02020603050405020304" pitchFamily="18" charset="0"/>
                          <a:cs typeface="Times New Roman" panose="02020603050405020304" pitchFamily="18" charset="0"/>
                        </a:rPr>
                        <a:t>Title of Paper</a:t>
                      </a:r>
                    </a:p>
                  </a:txBody>
                  <a:tcPr marL="72522" marR="72522" marT="36261" marB="36261" anchor="ctr"/>
                </a:tc>
                <a:tc>
                  <a:txBody>
                    <a:bodyPr/>
                    <a:lstStyle/>
                    <a:p>
                      <a:pPr algn="ctr">
                        <a:lnSpc>
                          <a:spcPct val="150000"/>
                        </a:lnSpc>
                        <a:buNone/>
                      </a:pPr>
                      <a:r>
                        <a:rPr lang="en-IN" sz="1400">
                          <a:latin typeface="Times New Roman" panose="02020603050405020304" pitchFamily="18" charset="0"/>
                          <a:cs typeface="Times New Roman" panose="02020603050405020304" pitchFamily="18" charset="0"/>
                        </a:rPr>
                        <a:t>Tools / Technologies</a:t>
                      </a:r>
                    </a:p>
                  </a:txBody>
                  <a:tcPr marL="72522" marR="72522" marT="36261" marB="36261" anchor="ctr"/>
                </a:tc>
                <a:tc>
                  <a:txBody>
                    <a:bodyPr/>
                    <a:lstStyle/>
                    <a:p>
                      <a:pPr algn="ctr">
                        <a:lnSpc>
                          <a:spcPct val="150000"/>
                        </a:lnSpc>
                        <a:buNone/>
                      </a:pPr>
                      <a:r>
                        <a:rPr lang="en-IN" sz="1400">
                          <a:latin typeface="Times New Roman" panose="02020603050405020304" pitchFamily="18" charset="0"/>
                          <a:cs typeface="Times New Roman" panose="02020603050405020304" pitchFamily="18" charset="0"/>
                        </a:rPr>
                        <a:t>Research Gap</a:t>
                      </a:r>
                    </a:p>
                  </a:txBody>
                  <a:tcPr marL="72522" marR="72522" marT="36261" marB="36261" anchor="ctr"/>
                </a:tc>
                <a:extLst>
                  <a:ext uri="{0D108BD9-81ED-4DB2-BD59-A6C34878D82A}">
                    <a16:rowId xmlns:a16="http://schemas.microsoft.com/office/drawing/2014/main" val="1841714588"/>
                  </a:ext>
                </a:extLst>
              </a:tr>
              <a:tr h="898147">
                <a:tc>
                  <a:txBody>
                    <a:bodyPr/>
                    <a:lstStyle/>
                    <a:p>
                      <a:pPr algn="ctr">
                        <a:lnSpc>
                          <a:spcPct val="150000"/>
                        </a:lnSpc>
                        <a:buNone/>
                      </a:pPr>
                      <a:r>
                        <a:rPr lang="en-IN" sz="1400" dirty="0">
                          <a:latin typeface="Times New Roman" panose="02020603050405020304" pitchFamily="18" charset="0"/>
                          <a:cs typeface="Times New Roman" panose="02020603050405020304" pitchFamily="18" charset="0"/>
                        </a:rPr>
                        <a:t>Zhang et al.</a:t>
                      </a:r>
                    </a:p>
                  </a:txBody>
                  <a:tcPr marL="72522" marR="72522" marT="36261" marB="36261" anchor="ctr"/>
                </a:tc>
                <a:tc>
                  <a:txBody>
                    <a:bodyPr/>
                    <a:lstStyle/>
                    <a:p>
                      <a:pPr algn="ctr">
                        <a:lnSpc>
                          <a:spcPct val="150000"/>
                        </a:lnSpc>
                        <a:buNone/>
                      </a:pPr>
                      <a:r>
                        <a:rPr lang="en-IN" sz="1400" dirty="0">
                          <a:latin typeface="Times New Roman" panose="02020603050405020304" pitchFamily="18" charset="0"/>
                          <a:cs typeface="Times New Roman" panose="02020603050405020304" pitchFamily="18" charset="0"/>
                        </a:rPr>
                        <a:t>2025</a:t>
                      </a:r>
                    </a:p>
                  </a:txBody>
                  <a:tcPr marL="72522" marR="72522" marT="36261" marB="36261" anchor="ctr"/>
                </a:tc>
                <a:tc>
                  <a:txBody>
                    <a:bodyPr/>
                    <a:lstStyle/>
                    <a:p>
                      <a:pPr algn="ctr">
                        <a:lnSpc>
                          <a:spcPct val="150000"/>
                        </a:lnSpc>
                        <a:buNone/>
                      </a:pPr>
                      <a:r>
                        <a:rPr lang="en-IN" sz="1400">
                          <a:latin typeface="Times New Roman" panose="02020603050405020304" pitchFamily="18" charset="0"/>
                          <a:cs typeface="Times New Roman" panose="02020603050405020304" pitchFamily="18" charset="0"/>
                        </a:rPr>
                        <a:t>AI-Based Requirement Analysis Using NLP</a:t>
                      </a:r>
                    </a:p>
                  </a:txBody>
                  <a:tcPr marL="72522" marR="72522" marT="36261" marB="36261" anchor="ctr"/>
                </a:tc>
                <a:tc>
                  <a:txBody>
                    <a:bodyPr/>
                    <a:lstStyle/>
                    <a:p>
                      <a:pPr algn="ctr">
                        <a:lnSpc>
                          <a:spcPct val="150000"/>
                        </a:lnSpc>
                        <a:buNone/>
                      </a:pPr>
                      <a:r>
                        <a:rPr lang="en-IN" sz="1400">
                          <a:latin typeface="Times New Roman" panose="02020603050405020304" pitchFamily="18" charset="0"/>
                          <a:cs typeface="Times New Roman" panose="02020603050405020304" pitchFamily="18" charset="0"/>
                        </a:rPr>
                        <a:t>NLP, BERT, Python</a:t>
                      </a:r>
                    </a:p>
                  </a:txBody>
                  <a:tcPr marL="72522" marR="72522" marT="36261" marB="36261" anchor="ctr"/>
                </a:tc>
                <a:tc>
                  <a:txBody>
                    <a:bodyPr/>
                    <a:lstStyle/>
                    <a:p>
                      <a:pPr algn="ctr">
                        <a:lnSpc>
                          <a:spcPct val="150000"/>
                        </a:lnSpc>
                        <a:buNone/>
                      </a:pPr>
                      <a:r>
                        <a:rPr lang="en-IN" sz="1400">
                          <a:latin typeface="Times New Roman" panose="02020603050405020304" pitchFamily="18" charset="0"/>
                          <a:cs typeface="Times New Roman" panose="02020603050405020304" pitchFamily="18" charset="0"/>
                        </a:rPr>
                        <a:t>Limited support for automatic SRS generation</a:t>
                      </a:r>
                    </a:p>
                  </a:txBody>
                  <a:tcPr marL="72522" marR="72522" marT="36261" marB="36261" anchor="ctr"/>
                </a:tc>
                <a:extLst>
                  <a:ext uri="{0D108BD9-81ED-4DB2-BD59-A6C34878D82A}">
                    <a16:rowId xmlns:a16="http://schemas.microsoft.com/office/drawing/2014/main" val="1695018696"/>
                  </a:ext>
                </a:extLst>
              </a:tr>
              <a:tr h="898147">
                <a:tc>
                  <a:txBody>
                    <a:bodyPr/>
                    <a:lstStyle/>
                    <a:p>
                      <a:pPr algn="ctr">
                        <a:lnSpc>
                          <a:spcPct val="150000"/>
                        </a:lnSpc>
                        <a:buNone/>
                      </a:pPr>
                      <a:r>
                        <a:rPr lang="en-IN" sz="1400" dirty="0">
                          <a:latin typeface="Times New Roman" panose="02020603050405020304" pitchFamily="18" charset="0"/>
                          <a:cs typeface="Times New Roman" panose="02020603050405020304" pitchFamily="18" charset="0"/>
                        </a:rPr>
                        <a:t>Sharma &amp; Gupta</a:t>
                      </a:r>
                    </a:p>
                  </a:txBody>
                  <a:tcPr marL="72522" marR="72522" marT="36261" marB="36261" anchor="ctr"/>
                </a:tc>
                <a:tc>
                  <a:txBody>
                    <a:bodyPr/>
                    <a:lstStyle/>
                    <a:p>
                      <a:pPr algn="ctr">
                        <a:lnSpc>
                          <a:spcPct val="150000"/>
                        </a:lnSpc>
                        <a:buNone/>
                      </a:pPr>
                      <a:r>
                        <a:rPr lang="en-IN" sz="1400" dirty="0">
                          <a:latin typeface="Times New Roman" panose="02020603050405020304" pitchFamily="18" charset="0"/>
                          <a:cs typeface="Times New Roman" panose="02020603050405020304" pitchFamily="18" charset="0"/>
                        </a:rPr>
                        <a:t>2025</a:t>
                      </a:r>
                    </a:p>
                  </a:txBody>
                  <a:tcPr marL="72522" marR="72522" marT="36261" marB="36261" anchor="ctr"/>
                </a:tc>
                <a:tc>
                  <a:txBody>
                    <a:bodyPr/>
                    <a:lstStyle/>
                    <a:p>
                      <a:pPr algn="ctr">
                        <a:lnSpc>
                          <a:spcPct val="150000"/>
                        </a:lnSpc>
                        <a:buNone/>
                      </a:pPr>
                      <a:r>
                        <a:rPr lang="en-IN" sz="1400">
                          <a:latin typeface="Times New Roman" panose="02020603050405020304" pitchFamily="18" charset="0"/>
                          <a:cs typeface="Times New Roman" panose="02020603050405020304" pitchFamily="18" charset="0"/>
                        </a:rPr>
                        <a:t>Automated Requirement Engineering Framework</a:t>
                      </a:r>
                    </a:p>
                  </a:txBody>
                  <a:tcPr marL="72522" marR="72522" marT="36261" marB="36261" anchor="ctr"/>
                </a:tc>
                <a:tc>
                  <a:txBody>
                    <a:bodyPr/>
                    <a:lstStyle/>
                    <a:p>
                      <a:pPr algn="ctr">
                        <a:lnSpc>
                          <a:spcPct val="150000"/>
                        </a:lnSpc>
                        <a:buNone/>
                      </a:pPr>
                      <a:r>
                        <a:rPr lang="en-IN" sz="1400">
                          <a:latin typeface="Times New Roman" panose="02020603050405020304" pitchFamily="18" charset="0"/>
                          <a:cs typeface="Times New Roman" panose="02020603050405020304" pitchFamily="18" charset="0"/>
                        </a:rPr>
                        <a:t>Machine Learning, Text Mining</a:t>
                      </a:r>
                    </a:p>
                  </a:txBody>
                  <a:tcPr marL="72522" marR="72522" marT="36261" marB="36261" anchor="ctr"/>
                </a:tc>
                <a:tc>
                  <a:txBody>
                    <a:bodyPr/>
                    <a:lstStyle/>
                    <a:p>
                      <a:pPr algn="ctr">
                        <a:lnSpc>
                          <a:spcPct val="150000"/>
                        </a:lnSpc>
                        <a:buNone/>
                      </a:pPr>
                      <a:r>
                        <a:rPr lang="en-IN" sz="1400">
                          <a:latin typeface="Times New Roman" panose="02020603050405020304" pitchFamily="18" charset="0"/>
                          <a:cs typeface="Times New Roman" panose="02020603050405020304" pitchFamily="18" charset="0"/>
                        </a:rPr>
                        <a:t>Lacks real-time requirement validation</a:t>
                      </a:r>
                    </a:p>
                  </a:txBody>
                  <a:tcPr marL="72522" marR="72522" marT="36261" marB="36261" anchor="ctr"/>
                </a:tc>
                <a:extLst>
                  <a:ext uri="{0D108BD9-81ED-4DB2-BD59-A6C34878D82A}">
                    <a16:rowId xmlns:a16="http://schemas.microsoft.com/office/drawing/2014/main" val="3499972184"/>
                  </a:ext>
                </a:extLst>
              </a:tr>
              <a:tr h="1324421">
                <a:tc>
                  <a:txBody>
                    <a:bodyPr/>
                    <a:lstStyle/>
                    <a:p>
                      <a:pPr algn="ctr">
                        <a:lnSpc>
                          <a:spcPct val="150000"/>
                        </a:lnSpc>
                        <a:buNone/>
                      </a:pPr>
                      <a:r>
                        <a:rPr lang="en-IN" sz="1400">
                          <a:latin typeface="Times New Roman" panose="02020603050405020304" pitchFamily="18" charset="0"/>
                          <a:cs typeface="Times New Roman" panose="02020603050405020304" pitchFamily="18" charset="0"/>
                        </a:rPr>
                        <a:t>Lee et al.</a:t>
                      </a:r>
                    </a:p>
                  </a:txBody>
                  <a:tcPr marL="72522" marR="72522" marT="36261" marB="36261" anchor="ctr"/>
                </a:tc>
                <a:tc>
                  <a:txBody>
                    <a:bodyPr/>
                    <a:lstStyle/>
                    <a:p>
                      <a:pPr algn="ctr">
                        <a:lnSpc>
                          <a:spcPct val="150000"/>
                        </a:lnSpc>
                        <a:buNone/>
                      </a:pPr>
                      <a:r>
                        <a:rPr lang="en-IN" sz="1400" dirty="0">
                          <a:latin typeface="Times New Roman" panose="02020603050405020304" pitchFamily="18" charset="0"/>
                          <a:cs typeface="Times New Roman" panose="02020603050405020304" pitchFamily="18" charset="0"/>
                        </a:rPr>
                        <a:t>2024</a:t>
                      </a:r>
                    </a:p>
                  </a:txBody>
                  <a:tcPr marL="72522" marR="72522" marT="36261" marB="36261" anchor="ctr"/>
                </a:tc>
                <a:tc>
                  <a:txBody>
                    <a:bodyPr/>
                    <a:lstStyle/>
                    <a:p>
                      <a:pPr algn="ctr">
                        <a:lnSpc>
                          <a:spcPct val="150000"/>
                        </a:lnSpc>
                        <a:buNone/>
                      </a:pPr>
                      <a:r>
                        <a:rPr lang="en-IN" sz="1400">
                          <a:latin typeface="Times New Roman" panose="02020603050405020304" pitchFamily="18" charset="0"/>
                          <a:cs typeface="Times New Roman" panose="02020603050405020304" pitchFamily="18" charset="0"/>
                        </a:rPr>
                        <a:t>Intelligent Software Requirement Processing System</a:t>
                      </a:r>
                    </a:p>
                  </a:txBody>
                  <a:tcPr marL="72522" marR="72522" marT="36261" marB="36261" anchor="ctr"/>
                </a:tc>
                <a:tc>
                  <a:txBody>
                    <a:bodyPr/>
                    <a:lstStyle/>
                    <a:p>
                      <a:pPr algn="ctr">
                        <a:lnSpc>
                          <a:spcPct val="150000"/>
                        </a:lnSpc>
                        <a:buNone/>
                      </a:pPr>
                      <a:r>
                        <a:rPr lang="en-IN" sz="1400">
                          <a:latin typeface="Times New Roman" panose="02020603050405020304" pitchFamily="18" charset="0"/>
                          <a:cs typeface="Times New Roman" panose="02020603050405020304" pitchFamily="18" charset="0"/>
                        </a:rPr>
                        <a:t>GPT Models, Deep Learning</a:t>
                      </a:r>
                    </a:p>
                  </a:txBody>
                  <a:tcPr marL="72522" marR="72522" marT="36261" marB="36261" anchor="ctr"/>
                </a:tc>
                <a:tc>
                  <a:txBody>
                    <a:bodyPr/>
                    <a:lstStyle/>
                    <a:p>
                      <a:pPr algn="ctr">
                        <a:lnSpc>
                          <a:spcPct val="150000"/>
                        </a:lnSpc>
                        <a:buNone/>
                      </a:pPr>
                      <a:r>
                        <a:rPr lang="en-IN" sz="1400" dirty="0">
                          <a:latin typeface="Times New Roman" panose="02020603050405020304" pitchFamily="18" charset="0"/>
                          <a:cs typeface="Times New Roman" panose="02020603050405020304" pitchFamily="18" charset="0"/>
                        </a:rPr>
                        <a:t>High computational cost and complexity</a:t>
                      </a:r>
                    </a:p>
                  </a:txBody>
                  <a:tcPr marL="72522" marR="72522" marT="36261" marB="36261" anchor="ctr"/>
                </a:tc>
                <a:extLst>
                  <a:ext uri="{0D108BD9-81ED-4DB2-BD59-A6C34878D82A}">
                    <a16:rowId xmlns:a16="http://schemas.microsoft.com/office/drawing/2014/main" val="3252482151"/>
                  </a:ext>
                </a:extLst>
              </a:tr>
              <a:tr h="898147">
                <a:tc>
                  <a:txBody>
                    <a:bodyPr/>
                    <a:lstStyle/>
                    <a:p>
                      <a:pPr algn="ctr">
                        <a:lnSpc>
                          <a:spcPct val="150000"/>
                        </a:lnSpc>
                        <a:buNone/>
                      </a:pPr>
                      <a:r>
                        <a:rPr lang="en-IN" sz="1400" dirty="0">
                          <a:latin typeface="Times New Roman" panose="02020603050405020304" pitchFamily="18" charset="0"/>
                          <a:cs typeface="Times New Roman" panose="02020603050405020304" pitchFamily="18" charset="0"/>
                        </a:rPr>
                        <a:t>Kumar et al.</a:t>
                      </a:r>
                    </a:p>
                  </a:txBody>
                  <a:tcPr marL="72522" marR="72522" marT="36261" marB="36261" anchor="ctr"/>
                </a:tc>
                <a:tc>
                  <a:txBody>
                    <a:bodyPr/>
                    <a:lstStyle/>
                    <a:p>
                      <a:pPr algn="ctr">
                        <a:lnSpc>
                          <a:spcPct val="150000"/>
                        </a:lnSpc>
                        <a:buNone/>
                      </a:pPr>
                      <a:r>
                        <a:rPr lang="en-IN" sz="1400" dirty="0">
                          <a:latin typeface="Times New Roman" panose="02020603050405020304" pitchFamily="18" charset="0"/>
                          <a:cs typeface="Times New Roman" panose="02020603050405020304" pitchFamily="18" charset="0"/>
                        </a:rPr>
                        <a:t>2024</a:t>
                      </a:r>
                    </a:p>
                  </a:txBody>
                  <a:tcPr marL="72522" marR="72522" marT="36261" marB="36261" anchor="ctr"/>
                </a:tc>
                <a:tc>
                  <a:txBody>
                    <a:bodyPr/>
                    <a:lstStyle/>
                    <a:p>
                      <a:pPr algn="ctr">
                        <a:lnSpc>
                          <a:spcPct val="150000"/>
                        </a:lnSpc>
                        <a:buNone/>
                      </a:pPr>
                      <a:r>
                        <a:rPr lang="en-IN" sz="1400" dirty="0">
                          <a:latin typeface="Times New Roman" panose="02020603050405020304" pitchFamily="18" charset="0"/>
                          <a:cs typeface="Times New Roman" panose="02020603050405020304" pitchFamily="18" charset="0"/>
                        </a:rPr>
                        <a:t>Smart SRS Generation Using AI Techniques</a:t>
                      </a:r>
                    </a:p>
                  </a:txBody>
                  <a:tcPr marL="72522" marR="72522" marT="36261" marB="36261" anchor="ctr"/>
                </a:tc>
                <a:tc>
                  <a:txBody>
                    <a:bodyPr/>
                    <a:lstStyle/>
                    <a:p>
                      <a:pPr algn="ctr">
                        <a:lnSpc>
                          <a:spcPct val="150000"/>
                        </a:lnSpc>
                        <a:buNone/>
                      </a:pPr>
                      <a:r>
                        <a:rPr lang="en-IN" sz="1400">
                          <a:latin typeface="Times New Roman" panose="02020603050405020304" pitchFamily="18" charset="0"/>
                          <a:cs typeface="Times New Roman" panose="02020603050405020304" pitchFamily="18" charset="0"/>
                        </a:rPr>
                        <a:t>NLP, TensorFlow</a:t>
                      </a:r>
                    </a:p>
                  </a:txBody>
                  <a:tcPr marL="72522" marR="72522" marT="36261" marB="36261" anchor="ctr"/>
                </a:tc>
                <a:tc>
                  <a:txBody>
                    <a:bodyPr/>
                    <a:lstStyle/>
                    <a:p>
                      <a:pPr algn="ctr">
                        <a:lnSpc>
                          <a:spcPct val="150000"/>
                        </a:lnSpc>
                        <a:buNone/>
                      </a:pPr>
                      <a:r>
                        <a:rPr lang="en-IN" sz="1400" dirty="0">
                          <a:latin typeface="Times New Roman" panose="02020603050405020304" pitchFamily="18" charset="0"/>
                          <a:cs typeface="Times New Roman" panose="02020603050405020304" pitchFamily="18" charset="0"/>
                        </a:rPr>
                        <a:t>Limited handling of non-functional requirements</a:t>
                      </a:r>
                    </a:p>
                  </a:txBody>
                  <a:tcPr marL="72522" marR="72522" marT="36261" marB="36261" anchor="ctr"/>
                </a:tc>
                <a:extLst>
                  <a:ext uri="{0D108BD9-81ED-4DB2-BD59-A6C34878D82A}">
                    <a16:rowId xmlns:a16="http://schemas.microsoft.com/office/drawing/2014/main" val="373970262"/>
                  </a:ext>
                </a:extLst>
              </a:tr>
              <a:tr h="1324421">
                <a:tc>
                  <a:txBody>
                    <a:bodyPr/>
                    <a:lstStyle/>
                    <a:p>
                      <a:pPr algn="ctr">
                        <a:lnSpc>
                          <a:spcPct val="150000"/>
                        </a:lnSpc>
                        <a:buNone/>
                      </a:pPr>
                      <a:r>
                        <a:rPr lang="en-IN" sz="1400">
                          <a:latin typeface="Times New Roman" panose="02020603050405020304" pitchFamily="18" charset="0"/>
                          <a:cs typeface="Times New Roman" panose="02020603050405020304" pitchFamily="18" charset="0"/>
                        </a:rPr>
                        <a:t>Patel &amp; Singh</a:t>
                      </a:r>
                    </a:p>
                  </a:txBody>
                  <a:tcPr marL="72522" marR="72522" marT="36261" marB="36261" anchor="ctr"/>
                </a:tc>
                <a:tc>
                  <a:txBody>
                    <a:bodyPr/>
                    <a:lstStyle/>
                    <a:p>
                      <a:pPr algn="ctr">
                        <a:lnSpc>
                          <a:spcPct val="150000"/>
                        </a:lnSpc>
                        <a:buNone/>
                      </a:pPr>
                      <a:r>
                        <a:rPr lang="en-IN" sz="1400" dirty="0">
                          <a:latin typeface="Times New Roman" panose="02020603050405020304" pitchFamily="18" charset="0"/>
                          <a:cs typeface="Times New Roman" panose="02020603050405020304" pitchFamily="18" charset="0"/>
                        </a:rPr>
                        <a:t>2023</a:t>
                      </a:r>
                    </a:p>
                  </a:txBody>
                  <a:tcPr marL="72522" marR="72522" marT="36261" marB="36261" anchor="ctr"/>
                </a:tc>
                <a:tc>
                  <a:txBody>
                    <a:bodyPr/>
                    <a:lstStyle/>
                    <a:p>
                      <a:pPr algn="ctr">
                        <a:lnSpc>
                          <a:spcPct val="150000"/>
                        </a:lnSpc>
                        <a:buNone/>
                      </a:pPr>
                      <a:r>
                        <a:rPr lang="en-IN" sz="1400" dirty="0">
                          <a:latin typeface="Times New Roman" panose="02020603050405020304" pitchFamily="18" charset="0"/>
                          <a:cs typeface="Times New Roman" panose="02020603050405020304" pitchFamily="18" charset="0"/>
                        </a:rPr>
                        <a:t>Requirement Extraction from Natural Language Documents</a:t>
                      </a:r>
                    </a:p>
                  </a:txBody>
                  <a:tcPr marL="72522" marR="72522" marT="36261" marB="36261" anchor="ctr"/>
                </a:tc>
                <a:tc>
                  <a:txBody>
                    <a:bodyPr/>
                    <a:lstStyle/>
                    <a:p>
                      <a:pPr algn="ctr">
                        <a:lnSpc>
                          <a:spcPct val="150000"/>
                        </a:lnSpc>
                        <a:buNone/>
                      </a:pPr>
                      <a:r>
                        <a:rPr lang="en-IN" sz="1400">
                          <a:latin typeface="Times New Roman" panose="02020603050405020304" pitchFamily="18" charset="0"/>
                          <a:cs typeface="Times New Roman" panose="02020603050405020304" pitchFamily="18" charset="0"/>
                        </a:rPr>
                        <a:t>NLP, Named Entity Recognition</a:t>
                      </a:r>
                    </a:p>
                  </a:txBody>
                  <a:tcPr marL="72522" marR="72522" marT="36261" marB="36261" anchor="ctr"/>
                </a:tc>
                <a:tc>
                  <a:txBody>
                    <a:bodyPr/>
                    <a:lstStyle/>
                    <a:p>
                      <a:pPr algn="ctr">
                        <a:lnSpc>
                          <a:spcPct val="150000"/>
                        </a:lnSpc>
                        <a:buNone/>
                      </a:pPr>
                      <a:r>
                        <a:rPr lang="en-IN" sz="1400" dirty="0">
                          <a:latin typeface="Times New Roman" panose="02020603050405020304" pitchFamily="18" charset="0"/>
                          <a:cs typeface="Times New Roman" panose="02020603050405020304" pitchFamily="18" charset="0"/>
                        </a:rPr>
                        <a:t>Does not provide standardized IEEE SRS output</a:t>
                      </a:r>
                    </a:p>
                  </a:txBody>
                  <a:tcPr marL="72522" marR="72522" marT="36261" marB="36261" anchor="ctr"/>
                </a:tc>
                <a:extLst>
                  <a:ext uri="{0D108BD9-81ED-4DB2-BD59-A6C34878D82A}">
                    <a16:rowId xmlns:a16="http://schemas.microsoft.com/office/drawing/2014/main" val="862069559"/>
                  </a:ext>
                </a:extLst>
              </a:tr>
            </a:tbl>
          </a:graphicData>
        </a:graphic>
      </p:graphicFrame>
    </p:spTree>
    <p:extLst>
      <p:ext uri="{BB962C8B-B14F-4D97-AF65-F5344CB8AC3E}">
        <p14:creationId xmlns:p14="http://schemas.microsoft.com/office/powerpoint/2010/main" val="389179796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CF1835B4-152C-9DF4-815D-7B964D031D57}"/>
              </a:ext>
            </a:extLst>
          </p:cNvPr>
          <p:cNvPicPr>
            <a:picLocks noChangeAspect="1"/>
          </p:cNvPicPr>
          <p:nvPr/>
        </p:nvPicPr>
        <p:blipFill>
          <a:blip r:embed="rId2">
            <a:extLst>
              <a:ext uri="{28A0092B-C50C-407E-A947-70E740481C1C}">
                <a14:useLocalDpi xmlns:a14="http://schemas.microsoft.com/office/drawing/2010/main" val="0"/>
              </a:ext>
            </a:extLst>
          </a:blip>
          <a:srcRect t="1" b="49185"/>
          <a:stretch>
            <a:fillRect/>
          </a:stretch>
        </p:blipFill>
        <p:spPr>
          <a:xfrm>
            <a:off x="386080" y="1300480"/>
            <a:ext cx="5232400" cy="5171440"/>
          </a:xfrm>
          <a:prstGeom prst="rect">
            <a:avLst/>
          </a:prstGeom>
        </p:spPr>
      </p:pic>
      <p:pic>
        <p:nvPicPr>
          <p:cNvPr id="7" name="Picture 6">
            <a:extLst>
              <a:ext uri="{FF2B5EF4-FFF2-40B4-BE49-F238E27FC236}">
                <a16:creationId xmlns:a16="http://schemas.microsoft.com/office/drawing/2014/main" id="{9D8E3FAA-E77A-0BC0-7D87-743E58181B3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283200" y="1416536"/>
            <a:ext cx="6360160" cy="5171440"/>
          </a:xfrm>
          <a:prstGeom prst="rect">
            <a:avLst/>
          </a:prstGeom>
        </p:spPr>
      </p:pic>
      <p:sp>
        <p:nvSpPr>
          <p:cNvPr id="9" name="TextBox 8">
            <a:extLst>
              <a:ext uri="{FF2B5EF4-FFF2-40B4-BE49-F238E27FC236}">
                <a16:creationId xmlns:a16="http://schemas.microsoft.com/office/drawing/2014/main" id="{53E8799E-7E9F-7848-30F0-D2F170C9C6B9}"/>
              </a:ext>
            </a:extLst>
          </p:cNvPr>
          <p:cNvSpPr txBox="1"/>
          <p:nvPr/>
        </p:nvSpPr>
        <p:spPr>
          <a:xfrm>
            <a:off x="3149600" y="270024"/>
            <a:ext cx="6096000" cy="646331"/>
          </a:xfrm>
          <a:prstGeom prst="rect">
            <a:avLst/>
          </a:prstGeom>
          <a:noFill/>
        </p:spPr>
        <p:txBody>
          <a:bodyPr wrap="square">
            <a:spAutoFit/>
          </a:bodyPr>
          <a:lstStyle/>
          <a:p>
            <a:r>
              <a:rPr lang="en-IN" sz="3600" dirty="0">
                <a:solidFill>
                  <a:srgbClr val="FF0000"/>
                </a:solidFill>
                <a:latin typeface="Times New Roman" panose="02020603050405020304" pitchFamily="18" charset="0"/>
                <a:cs typeface="Times New Roman" panose="02020603050405020304" pitchFamily="18" charset="0"/>
              </a:rPr>
              <a:t>SYSTEM ARCHITECTURE</a:t>
            </a:r>
          </a:p>
        </p:txBody>
      </p:sp>
    </p:spTree>
    <p:extLst>
      <p:ext uri="{BB962C8B-B14F-4D97-AF65-F5344CB8AC3E}">
        <p14:creationId xmlns:p14="http://schemas.microsoft.com/office/powerpoint/2010/main" val="242588630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DBADA628-1F06-B047-E3EF-475AD3B5B36E}"/>
              </a:ext>
            </a:extLst>
          </p:cNvPr>
          <p:cNvSpPr txBox="1"/>
          <p:nvPr/>
        </p:nvSpPr>
        <p:spPr>
          <a:xfrm>
            <a:off x="1828800" y="430014"/>
            <a:ext cx="9215120" cy="584775"/>
          </a:xfrm>
          <a:prstGeom prst="rect">
            <a:avLst/>
          </a:prstGeom>
          <a:noFill/>
        </p:spPr>
        <p:txBody>
          <a:bodyPr wrap="square">
            <a:spAutoFit/>
          </a:bodyPr>
          <a:lstStyle/>
          <a:p>
            <a:pPr>
              <a:buNone/>
            </a:pPr>
            <a:r>
              <a:rPr lang="en-IN" sz="3200" b="1" dirty="0">
                <a:solidFill>
                  <a:srgbClr val="FF0000"/>
                </a:solidFill>
                <a:latin typeface="Times New Roman" panose="02020603050405020304" pitchFamily="18" charset="0"/>
                <a:cs typeface="Times New Roman" panose="02020603050405020304" pitchFamily="18" charset="0"/>
              </a:rPr>
              <a:t>Module 1 – Requirement Collection and Analysis</a:t>
            </a:r>
          </a:p>
        </p:txBody>
      </p:sp>
      <p:sp>
        <p:nvSpPr>
          <p:cNvPr id="5" name="TextBox 4">
            <a:extLst>
              <a:ext uri="{FF2B5EF4-FFF2-40B4-BE49-F238E27FC236}">
                <a16:creationId xmlns:a16="http://schemas.microsoft.com/office/drawing/2014/main" id="{1010570F-D773-334D-5323-3C4F04151DDC}"/>
              </a:ext>
            </a:extLst>
          </p:cNvPr>
          <p:cNvSpPr txBox="1"/>
          <p:nvPr/>
        </p:nvSpPr>
        <p:spPr>
          <a:xfrm>
            <a:off x="567159" y="1399430"/>
            <a:ext cx="11624841" cy="5028556"/>
          </a:xfrm>
          <a:prstGeom prst="rect">
            <a:avLst/>
          </a:prstGeom>
          <a:noFill/>
        </p:spPr>
        <p:txBody>
          <a:bodyPr wrap="square">
            <a:spAutoFit/>
          </a:bodyPr>
          <a:lstStyle/>
          <a:p>
            <a:pPr>
              <a:lnSpc>
                <a:spcPct val="150000"/>
              </a:lnSpc>
              <a:buNone/>
            </a:pPr>
            <a:r>
              <a:rPr lang="en-IN" b="1" dirty="0">
                <a:latin typeface="Times New Roman" panose="02020603050405020304" pitchFamily="18" charset="0"/>
                <a:cs typeface="Times New Roman" panose="02020603050405020304" pitchFamily="18" charset="0"/>
              </a:rPr>
              <a:t>Objective</a:t>
            </a:r>
          </a:p>
          <a:p>
            <a:pPr>
              <a:lnSpc>
                <a:spcPct val="150000"/>
              </a:lnSpc>
              <a:buNone/>
            </a:pPr>
            <a:r>
              <a:rPr lang="en-IN" dirty="0">
                <a:latin typeface="Times New Roman" panose="02020603050405020304" pitchFamily="18" charset="0"/>
                <a:cs typeface="Times New Roman" panose="02020603050405020304" pitchFamily="18" charset="0"/>
              </a:rPr>
              <a:t>To collect software requirements from users and </a:t>
            </a:r>
            <a:r>
              <a:rPr lang="en-IN" dirty="0" err="1">
                <a:latin typeface="Times New Roman" panose="02020603050405020304" pitchFamily="18" charset="0"/>
                <a:cs typeface="Times New Roman" panose="02020603050405020304" pitchFamily="18" charset="0"/>
              </a:rPr>
              <a:t>analyze</a:t>
            </a:r>
            <a:r>
              <a:rPr lang="en-IN" dirty="0">
                <a:latin typeface="Times New Roman" panose="02020603050405020304" pitchFamily="18" charset="0"/>
                <a:cs typeface="Times New Roman" panose="02020603050405020304" pitchFamily="18" charset="0"/>
              </a:rPr>
              <a:t> them using AI and NLP techniques.</a:t>
            </a:r>
          </a:p>
          <a:p>
            <a:pPr>
              <a:lnSpc>
                <a:spcPct val="150000"/>
              </a:lnSpc>
              <a:buNone/>
            </a:pPr>
            <a:r>
              <a:rPr lang="en-IN" b="1" dirty="0">
                <a:latin typeface="Times New Roman" panose="02020603050405020304" pitchFamily="18" charset="0"/>
                <a:cs typeface="Times New Roman" panose="02020603050405020304" pitchFamily="18" charset="0"/>
              </a:rPr>
              <a:t>Functionality</a:t>
            </a:r>
          </a:p>
          <a:p>
            <a:pPr marL="285750" indent="-285750">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Accepts requirements in Text, PDF, or DOCX formats. </a:t>
            </a:r>
          </a:p>
          <a:p>
            <a:pPr marL="285750" indent="-285750">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Extracts important information from user inputs. </a:t>
            </a:r>
          </a:p>
          <a:p>
            <a:pPr marL="285750" indent="-285750">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Identifies Functional Requirements (FR) and Non-Functional Requirements (NFR). </a:t>
            </a:r>
          </a:p>
          <a:p>
            <a:pPr marL="285750" indent="-285750">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Removes duplicate and irrelevant information. </a:t>
            </a:r>
          </a:p>
          <a:p>
            <a:pPr marL="285750" indent="-285750">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Detects keywords, entities, and system features. </a:t>
            </a:r>
          </a:p>
          <a:p>
            <a:pPr>
              <a:lnSpc>
                <a:spcPct val="150000"/>
              </a:lnSpc>
              <a:buNone/>
            </a:pPr>
            <a:r>
              <a:rPr lang="en-IN" b="1" dirty="0">
                <a:latin typeface="Times New Roman" panose="02020603050405020304" pitchFamily="18" charset="0"/>
                <a:cs typeface="Times New Roman" panose="02020603050405020304" pitchFamily="18" charset="0"/>
              </a:rPr>
              <a:t>Technologies Used</a:t>
            </a:r>
          </a:p>
          <a:p>
            <a:pPr marL="285750" indent="-285750">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Python </a:t>
            </a:r>
          </a:p>
          <a:p>
            <a:pPr marL="285750" indent="-285750">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Natural Language Processing (NLP) </a:t>
            </a:r>
          </a:p>
          <a:p>
            <a:pPr marL="285750" indent="-285750">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Machine Learning Models </a:t>
            </a:r>
          </a:p>
        </p:txBody>
      </p:sp>
    </p:spTree>
    <p:extLst>
      <p:ext uri="{BB962C8B-B14F-4D97-AF65-F5344CB8AC3E}">
        <p14:creationId xmlns:p14="http://schemas.microsoft.com/office/powerpoint/2010/main" val="332521239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E2EAE2FE-B0EA-98D1-4E89-50FCFCBDC9B6}"/>
              </a:ext>
            </a:extLst>
          </p:cNvPr>
          <p:cNvSpPr txBox="1"/>
          <p:nvPr/>
        </p:nvSpPr>
        <p:spPr>
          <a:xfrm>
            <a:off x="1300480" y="369054"/>
            <a:ext cx="9855200" cy="584775"/>
          </a:xfrm>
          <a:prstGeom prst="rect">
            <a:avLst/>
          </a:prstGeom>
          <a:noFill/>
        </p:spPr>
        <p:txBody>
          <a:bodyPr wrap="square">
            <a:spAutoFit/>
          </a:bodyPr>
          <a:lstStyle/>
          <a:p>
            <a:r>
              <a:rPr lang="en-IN" sz="3200" dirty="0">
                <a:solidFill>
                  <a:srgbClr val="FF0000"/>
                </a:solidFill>
                <a:latin typeface="Times New Roman" panose="02020603050405020304" pitchFamily="18" charset="0"/>
                <a:cs typeface="Times New Roman" panose="02020603050405020304" pitchFamily="18" charset="0"/>
              </a:rPr>
              <a:t>Module 2 – Requirement Prioritization and Risk Analysis</a:t>
            </a:r>
          </a:p>
        </p:txBody>
      </p:sp>
      <p:sp>
        <p:nvSpPr>
          <p:cNvPr id="5" name="TextBox 4">
            <a:extLst>
              <a:ext uri="{FF2B5EF4-FFF2-40B4-BE49-F238E27FC236}">
                <a16:creationId xmlns:a16="http://schemas.microsoft.com/office/drawing/2014/main" id="{3DFA1443-3816-19E3-0531-2C8249BE6223}"/>
              </a:ext>
            </a:extLst>
          </p:cNvPr>
          <p:cNvSpPr txBox="1"/>
          <p:nvPr/>
        </p:nvSpPr>
        <p:spPr>
          <a:xfrm>
            <a:off x="1097280" y="1324600"/>
            <a:ext cx="9997440" cy="5028556"/>
          </a:xfrm>
          <a:prstGeom prst="rect">
            <a:avLst/>
          </a:prstGeom>
          <a:noFill/>
        </p:spPr>
        <p:txBody>
          <a:bodyPr wrap="square">
            <a:spAutoFit/>
          </a:bodyPr>
          <a:lstStyle/>
          <a:p>
            <a:pPr>
              <a:lnSpc>
                <a:spcPct val="150000"/>
              </a:lnSpc>
              <a:buNone/>
            </a:pPr>
            <a:r>
              <a:rPr lang="en-IN" b="1" dirty="0">
                <a:latin typeface="Times New Roman" panose="02020603050405020304" pitchFamily="18" charset="0"/>
                <a:cs typeface="Times New Roman" panose="02020603050405020304" pitchFamily="18" charset="0"/>
              </a:rPr>
              <a:t>Objective</a:t>
            </a:r>
          </a:p>
          <a:p>
            <a:pPr>
              <a:lnSpc>
                <a:spcPct val="150000"/>
              </a:lnSpc>
              <a:buNone/>
            </a:pPr>
            <a:r>
              <a:rPr lang="en-IN" dirty="0">
                <a:latin typeface="Times New Roman" panose="02020603050405020304" pitchFamily="18" charset="0"/>
                <a:cs typeface="Times New Roman" panose="02020603050405020304" pitchFamily="18" charset="0"/>
              </a:rPr>
              <a:t>To prioritize requirements and identify potential project risks.</a:t>
            </a:r>
          </a:p>
          <a:p>
            <a:pPr>
              <a:lnSpc>
                <a:spcPct val="150000"/>
              </a:lnSpc>
              <a:buNone/>
            </a:pPr>
            <a:r>
              <a:rPr lang="en-IN" b="1" dirty="0">
                <a:latin typeface="Times New Roman" panose="02020603050405020304" pitchFamily="18" charset="0"/>
                <a:cs typeface="Times New Roman" panose="02020603050405020304" pitchFamily="18" charset="0"/>
              </a:rPr>
              <a:t>Functionality</a:t>
            </a:r>
          </a:p>
          <a:p>
            <a:pPr marL="285750" indent="-285750">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Assigns priority levels (High, Medium, Low). </a:t>
            </a:r>
          </a:p>
          <a:p>
            <a:pPr marL="285750" indent="-285750">
              <a:lnSpc>
                <a:spcPct val="150000"/>
              </a:lnSpc>
              <a:buFont typeface="Arial" panose="020B0604020202020204" pitchFamily="34" charset="0"/>
              <a:buChar char="•"/>
            </a:pPr>
            <a:r>
              <a:rPr lang="en-IN" dirty="0" err="1">
                <a:latin typeface="Times New Roman" panose="02020603050405020304" pitchFamily="18" charset="0"/>
                <a:cs typeface="Times New Roman" panose="02020603050405020304" pitchFamily="18" charset="0"/>
              </a:rPr>
              <a:t>Analyzes</a:t>
            </a:r>
            <a:r>
              <a:rPr lang="en-IN" dirty="0">
                <a:latin typeface="Times New Roman" panose="02020603050405020304" pitchFamily="18" charset="0"/>
                <a:cs typeface="Times New Roman" panose="02020603050405020304" pitchFamily="18" charset="0"/>
              </a:rPr>
              <a:t> requirement dependencies. </a:t>
            </a:r>
          </a:p>
          <a:p>
            <a:pPr marL="285750" indent="-285750">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Detects ambiguous and conflicting requirements. </a:t>
            </a:r>
          </a:p>
          <a:p>
            <a:pPr marL="285750" indent="-285750">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Identifies missing or incomplete requirements. </a:t>
            </a:r>
          </a:p>
          <a:p>
            <a:pPr marL="285750" indent="-285750">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Performs risk assessment based on complexity and impact. </a:t>
            </a:r>
          </a:p>
          <a:p>
            <a:pPr>
              <a:lnSpc>
                <a:spcPct val="150000"/>
              </a:lnSpc>
              <a:buNone/>
            </a:pPr>
            <a:r>
              <a:rPr lang="en-IN" b="1" dirty="0">
                <a:latin typeface="Times New Roman" panose="02020603050405020304" pitchFamily="18" charset="0"/>
                <a:cs typeface="Times New Roman" panose="02020603050405020304" pitchFamily="18" charset="0"/>
              </a:rPr>
              <a:t>Technologies Used</a:t>
            </a:r>
          </a:p>
          <a:p>
            <a:pPr marL="285750" indent="-285750">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AI-based Decision Models </a:t>
            </a:r>
          </a:p>
          <a:p>
            <a:pPr marL="285750" indent="-285750">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Risk Assessment Algorithms </a:t>
            </a:r>
          </a:p>
          <a:p>
            <a:pPr marL="285750" indent="-285750">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Priority Ranking Techniques</a:t>
            </a:r>
          </a:p>
        </p:txBody>
      </p:sp>
    </p:spTree>
    <p:extLst>
      <p:ext uri="{BB962C8B-B14F-4D97-AF65-F5344CB8AC3E}">
        <p14:creationId xmlns:p14="http://schemas.microsoft.com/office/powerpoint/2010/main" val="149641425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0E2E1A72-CBEE-2DD5-2D81-51BCD3C1428A}"/>
              </a:ext>
            </a:extLst>
          </p:cNvPr>
          <p:cNvSpPr txBox="1"/>
          <p:nvPr/>
        </p:nvSpPr>
        <p:spPr>
          <a:xfrm>
            <a:off x="2794000" y="399534"/>
            <a:ext cx="7244080" cy="584775"/>
          </a:xfrm>
          <a:prstGeom prst="rect">
            <a:avLst/>
          </a:prstGeom>
          <a:noFill/>
        </p:spPr>
        <p:txBody>
          <a:bodyPr wrap="square">
            <a:spAutoFit/>
          </a:bodyPr>
          <a:lstStyle/>
          <a:p>
            <a:r>
              <a:rPr lang="en-IN" sz="3200" dirty="0">
                <a:solidFill>
                  <a:srgbClr val="FF0000"/>
                </a:solidFill>
                <a:latin typeface="Times New Roman" panose="02020603050405020304" pitchFamily="18" charset="0"/>
                <a:cs typeface="Times New Roman" panose="02020603050405020304" pitchFamily="18" charset="0"/>
              </a:rPr>
              <a:t>Module 3 – UML and SRS Generation</a:t>
            </a:r>
          </a:p>
        </p:txBody>
      </p:sp>
      <p:sp>
        <p:nvSpPr>
          <p:cNvPr id="5" name="TextBox 4">
            <a:extLst>
              <a:ext uri="{FF2B5EF4-FFF2-40B4-BE49-F238E27FC236}">
                <a16:creationId xmlns:a16="http://schemas.microsoft.com/office/drawing/2014/main" id="{08F74DF7-DDE8-D8E7-058E-315A56542F14}"/>
              </a:ext>
            </a:extLst>
          </p:cNvPr>
          <p:cNvSpPr txBox="1"/>
          <p:nvPr/>
        </p:nvSpPr>
        <p:spPr>
          <a:xfrm>
            <a:off x="711200" y="1014412"/>
            <a:ext cx="6096000" cy="5444054"/>
          </a:xfrm>
          <a:prstGeom prst="rect">
            <a:avLst/>
          </a:prstGeom>
          <a:noFill/>
        </p:spPr>
        <p:txBody>
          <a:bodyPr wrap="square">
            <a:spAutoFit/>
          </a:bodyPr>
          <a:lstStyle/>
          <a:p>
            <a:pPr>
              <a:lnSpc>
                <a:spcPct val="150000"/>
              </a:lnSpc>
              <a:buNone/>
            </a:pPr>
            <a:r>
              <a:rPr lang="en-IN" b="1" dirty="0">
                <a:latin typeface="Times New Roman" panose="02020603050405020304" pitchFamily="18" charset="0"/>
                <a:cs typeface="Times New Roman" panose="02020603050405020304" pitchFamily="18" charset="0"/>
              </a:rPr>
              <a:t>Objective</a:t>
            </a:r>
          </a:p>
          <a:p>
            <a:pPr>
              <a:lnSpc>
                <a:spcPct val="150000"/>
              </a:lnSpc>
              <a:buNone/>
            </a:pPr>
            <a:r>
              <a:rPr lang="en-IN" dirty="0">
                <a:latin typeface="Times New Roman" panose="02020603050405020304" pitchFamily="18" charset="0"/>
                <a:cs typeface="Times New Roman" panose="02020603050405020304" pitchFamily="18" charset="0"/>
              </a:rPr>
              <a:t>To automatically generate UML diagrams and Software Requirement Specification (SRS) documents.</a:t>
            </a:r>
          </a:p>
          <a:p>
            <a:pPr>
              <a:lnSpc>
                <a:spcPct val="150000"/>
              </a:lnSpc>
              <a:buNone/>
            </a:pPr>
            <a:r>
              <a:rPr lang="en-IN" b="1" dirty="0">
                <a:latin typeface="Times New Roman" panose="02020603050405020304" pitchFamily="18" charset="0"/>
                <a:cs typeface="Times New Roman" panose="02020603050405020304" pitchFamily="18" charset="0"/>
              </a:rPr>
              <a:t>Functionality</a:t>
            </a:r>
          </a:p>
          <a:p>
            <a:pPr marL="285750" indent="-285750">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Converts </a:t>
            </a:r>
            <a:r>
              <a:rPr lang="en-IN" dirty="0" err="1">
                <a:latin typeface="Times New Roman" panose="02020603050405020304" pitchFamily="18" charset="0"/>
                <a:cs typeface="Times New Roman" panose="02020603050405020304" pitchFamily="18" charset="0"/>
              </a:rPr>
              <a:t>analyzed</a:t>
            </a:r>
            <a:r>
              <a:rPr lang="en-IN" dirty="0">
                <a:latin typeface="Times New Roman" panose="02020603050405020304" pitchFamily="18" charset="0"/>
                <a:cs typeface="Times New Roman" panose="02020603050405020304" pitchFamily="18" charset="0"/>
              </a:rPr>
              <a:t> requirements into UML diagrams. </a:t>
            </a:r>
          </a:p>
          <a:p>
            <a:pPr marL="285750" indent="-285750">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Generates Class Diagrams ,Activity Diagrams and Use Case Diagrams.</a:t>
            </a:r>
          </a:p>
          <a:p>
            <a:pPr marL="285750" indent="-285750">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Creates IEEE-standard SRS documentation. </a:t>
            </a:r>
          </a:p>
          <a:p>
            <a:pPr marL="285750" indent="-285750">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Exports reports in PDF and DOCX formats. </a:t>
            </a:r>
          </a:p>
          <a:p>
            <a:pPr>
              <a:lnSpc>
                <a:spcPct val="150000"/>
              </a:lnSpc>
              <a:buNone/>
            </a:pPr>
            <a:r>
              <a:rPr lang="en-IN" b="1" dirty="0">
                <a:latin typeface="Times New Roman" panose="02020603050405020304" pitchFamily="18" charset="0"/>
                <a:cs typeface="Times New Roman" panose="02020603050405020304" pitchFamily="18" charset="0"/>
              </a:rPr>
              <a:t>Technologies Used</a:t>
            </a:r>
          </a:p>
          <a:p>
            <a:pPr marL="285750" indent="-285750">
              <a:lnSpc>
                <a:spcPct val="150000"/>
              </a:lnSpc>
              <a:buFont typeface="Arial" panose="020B0604020202020204" pitchFamily="34" charset="0"/>
              <a:buChar char="•"/>
            </a:pPr>
            <a:r>
              <a:rPr lang="en-IN" dirty="0" err="1">
                <a:latin typeface="Times New Roman" panose="02020603050405020304" pitchFamily="18" charset="0"/>
                <a:cs typeface="Times New Roman" panose="02020603050405020304" pitchFamily="18" charset="0"/>
              </a:rPr>
              <a:t>PlantUML</a:t>
            </a:r>
            <a:r>
              <a:rPr lang="en-IN" dirty="0">
                <a:latin typeface="Times New Roman" panose="02020603050405020304" pitchFamily="18" charset="0"/>
                <a:cs typeface="Times New Roman" panose="02020603050405020304" pitchFamily="18" charset="0"/>
              </a:rPr>
              <a:t> </a:t>
            </a:r>
          </a:p>
          <a:p>
            <a:pPr marL="285750" indent="-285750">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AI-based Document Generator </a:t>
            </a:r>
          </a:p>
          <a:p>
            <a:pPr marL="285750" indent="-285750">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Python PDF/DOCX Libraries</a:t>
            </a:r>
          </a:p>
        </p:txBody>
      </p:sp>
    </p:spTree>
    <p:extLst>
      <p:ext uri="{BB962C8B-B14F-4D97-AF65-F5344CB8AC3E}">
        <p14:creationId xmlns:p14="http://schemas.microsoft.com/office/powerpoint/2010/main" val="425523415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8A8E8A5D-F1A2-3F56-CBBD-EBEC943D773F}"/>
              </a:ext>
            </a:extLst>
          </p:cNvPr>
          <p:cNvSpPr txBox="1"/>
          <p:nvPr/>
        </p:nvSpPr>
        <p:spPr>
          <a:xfrm>
            <a:off x="4328160" y="521454"/>
            <a:ext cx="6096000" cy="646331"/>
          </a:xfrm>
          <a:prstGeom prst="rect">
            <a:avLst/>
          </a:prstGeom>
          <a:noFill/>
        </p:spPr>
        <p:txBody>
          <a:bodyPr wrap="square">
            <a:spAutoFit/>
          </a:bodyPr>
          <a:lstStyle/>
          <a:p>
            <a:r>
              <a:rPr lang="en-IN" sz="3600" dirty="0">
                <a:solidFill>
                  <a:srgbClr val="FF0000"/>
                </a:solidFill>
                <a:latin typeface="Times New Roman" panose="02020603050405020304" pitchFamily="18" charset="0"/>
                <a:cs typeface="Times New Roman" panose="02020603050405020304" pitchFamily="18" charset="0"/>
              </a:rPr>
              <a:t>CONCLUSION</a:t>
            </a:r>
          </a:p>
        </p:txBody>
      </p:sp>
      <p:sp>
        <p:nvSpPr>
          <p:cNvPr id="5" name="TextBox 4">
            <a:extLst>
              <a:ext uri="{FF2B5EF4-FFF2-40B4-BE49-F238E27FC236}">
                <a16:creationId xmlns:a16="http://schemas.microsoft.com/office/drawing/2014/main" id="{8A34B03B-58EB-4022-BD17-8D297E34D87B}"/>
              </a:ext>
            </a:extLst>
          </p:cNvPr>
          <p:cNvSpPr txBox="1"/>
          <p:nvPr/>
        </p:nvSpPr>
        <p:spPr>
          <a:xfrm>
            <a:off x="914400" y="1685003"/>
            <a:ext cx="10414000" cy="3782061"/>
          </a:xfrm>
          <a:prstGeom prst="rect">
            <a:avLst/>
          </a:prstGeom>
          <a:noFill/>
        </p:spPr>
        <p:txBody>
          <a:bodyPr wrap="square">
            <a:spAutoFit/>
          </a:bodyPr>
          <a:lstStyle/>
          <a:p>
            <a:pPr algn="just">
              <a:lnSpc>
                <a:spcPct val="150000"/>
              </a:lnSpc>
            </a:pPr>
            <a:r>
              <a:rPr lang="en-IN" dirty="0">
                <a:latin typeface="Times New Roman" panose="02020603050405020304" pitchFamily="18" charset="0"/>
                <a:cs typeface="Times New Roman" panose="02020603050405020304" pitchFamily="18" charset="0"/>
              </a:rPr>
              <a:t>The AI-Powered Smart Requirement Analyzer for Software Engineering and Automated SRS Generation is designed to simplify and automate the requirement engineering process. By leveraging Artificial Intelligence and Natural Language Processing techniques, the system efficiently collects, </a:t>
            </a:r>
            <a:r>
              <a:rPr lang="en-IN" dirty="0" err="1">
                <a:latin typeface="Times New Roman" panose="02020603050405020304" pitchFamily="18" charset="0"/>
                <a:cs typeface="Times New Roman" panose="02020603050405020304" pitchFamily="18" charset="0"/>
              </a:rPr>
              <a:t>analyzes</a:t>
            </a:r>
            <a:r>
              <a:rPr lang="en-IN" dirty="0">
                <a:latin typeface="Times New Roman" panose="02020603050405020304" pitchFamily="18" charset="0"/>
                <a:cs typeface="Times New Roman" panose="02020603050405020304" pitchFamily="18" charset="0"/>
              </a:rPr>
              <a:t>, and classifies software requirements while identifying ambiguities and potential risks. It further automates the generation of UML diagrams and IEEE-standard Software Requirement Specification (SRS) documents, reducing manual effort and improving documentation quality. The proposed solution enhances accuracy, saves time, minimizes human errors, and supports better decision-making throughout the software development lifecycle. Overall, this project demonstrates the potential of AI-driven technologies in creating a smarter, faster, and more reliable approach to software requirement management and documentation.</a:t>
            </a:r>
          </a:p>
        </p:txBody>
      </p:sp>
    </p:spTree>
    <p:extLst>
      <p:ext uri="{BB962C8B-B14F-4D97-AF65-F5344CB8AC3E}">
        <p14:creationId xmlns:p14="http://schemas.microsoft.com/office/powerpoint/2010/main" val="336536946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5D1BD746-4FBD-CECC-4161-228316707191}"/>
              </a:ext>
            </a:extLst>
          </p:cNvPr>
          <p:cNvSpPr txBox="1"/>
          <p:nvPr/>
        </p:nvSpPr>
        <p:spPr>
          <a:xfrm>
            <a:off x="4257040" y="358894"/>
            <a:ext cx="6096000" cy="646331"/>
          </a:xfrm>
          <a:prstGeom prst="rect">
            <a:avLst/>
          </a:prstGeom>
          <a:noFill/>
        </p:spPr>
        <p:txBody>
          <a:bodyPr wrap="square">
            <a:spAutoFit/>
          </a:bodyPr>
          <a:lstStyle/>
          <a:p>
            <a:r>
              <a:rPr lang="en-IN" sz="3600" dirty="0">
                <a:solidFill>
                  <a:srgbClr val="FF0000"/>
                </a:solidFill>
                <a:latin typeface="Times New Roman" panose="02020603050405020304" pitchFamily="18" charset="0"/>
                <a:cs typeface="Times New Roman" panose="02020603050405020304" pitchFamily="18" charset="0"/>
              </a:rPr>
              <a:t>FUTURE SCOPE</a:t>
            </a:r>
          </a:p>
        </p:txBody>
      </p:sp>
      <p:sp>
        <p:nvSpPr>
          <p:cNvPr id="5" name="TextBox 4">
            <a:extLst>
              <a:ext uri="{FF2B5EF4-FFF2-40B4-BE49-F238E27FC236}">
                <a16:creationId xmlns:a16="http://schemas.microsoft.com/office/drawing/2014/main" id="{16F09B44-13E2-BF5F-4B15-BF99FAD1A150}"/>
              </a:ext>
            </a:extLst>
          </p:cNvPr>
          <p:cNvSpPr txBox="1"/>
          <p:nvPr/>
        </p:nvSpPr>
        <p:spPr>
          <a:xfrm>
            <a:off x="833120" y="1464161"/>
            <a:ext cx="10342880" cy="4613058"/>
          </a:xfrm>
          <a:prstGeom prst="rect">
            <a:avLst/>
          </a:prstGeom>
          <a:noFill/>
        </p:spPr>
        <p:txBody>
          <a:bodyPr wrap="square">
            <a:spAutoFit/>
          </a:bodyPr>
          <a:lstStyle/>
          <a:p>
            <a:pPr>
              <a:lnSpc>
                <a:spcPct val="150000"/>
              </a:lnSpc>
              <a:buNone/>
            </a:pPr>
            <a:r>
              <a:rPr lang="en-IN" dirty="0">
                <a:latin typeface="Times New Roman" panose="02020603050405020304" pitchFamily="18" charset="0"/>
                <a:cs typeface="Times New Roman" panose="02020603050405020304" pitchFamily="18" charset="0"/>
              </a:rPr>
              <a:t>The proposed AI-Powered Smart Requirement Analyzer can be enhanced with advanced AI and software engineering features in the future.</a:t>
            </a:r>
          </a:p>
          <a:p>
            <a:pPr>
              <a:lnSpc>
                <a:spcPct val="150000"/>
              </a:lnSpc>
              <a:buNone/>
            </a:pPr>
            <a:r>
              <a:rPr lang="en-IN" b="1" dirty="0">
                <a:latin typeface="Times New Roman" panose="02020603050405020304" pitchFamily="18" charset="0"/>
                <a:cs typeface="Times New Roman" panose="02020603050405020304" pitchFamily="18" charset="0"/>
              </a:rPr>
              <a:t>Future Enhancements</a:t>
            </a:r>
          </a:p>
          <a:p>
            <a:pPr marL="285750" indent="-285750">
              <a:lnSpc>
                <a:spcPct val="150000"/>
              </a:lnSpc>
              <a:buFont typeface="Wingdings" panose="05000000000000000000" pitchFamily="2" charset="2"/>
              <a:buChar char="q"/>
            </a:pPr>
            <a:r>
              <a:rPr lang="en-IN" dirty="0">
                <a:latin typeface="Times New Roman" panose="02020603050405020304" pitchFamily="18" charset="0"/>
                <a:cs typeface="Times New Roman" panose="02020603050405020304" pitchFamily="18" charset="0"/>
              </a:rPr>
              <a:t>Integration with Large Language Models (LLMs) for more accurate requirement understanding. </a:t>
            </a:r>
          </a:p>
          <a:p>
            <a:pPr marL="285750" indent="-285750">
              <a:lnSpc>
                <a:spcPct val="150000"/>
              </a:lnSpc>
              <a:buFont typeface="Wingdings" panose="05000000000000000000" pitchFamily="2" charset="2"/>
              <a:buChar char="q"/>
            </a:pPr>
            <a:r>
              <a:rPr lang="en-IN" dirty="0">
                <a:latin typeface="Times New Roman" panose="02020603050405020304" pitchFamily="18" charset="0"/>
                <a:cs typeface="Times New Roman" panose="02020603050405020304" pitchFamily="18" charset="0"/>
              </a:rPr>
              <a:t>Automatic generation of Test Cases from requirements. </a:t>
            </a:r>
          </a:p>
          <a:p>
            <a:pPr marL="285750" indent="-285750">
              <a:lnSpc>
                <a:spcPct val="150000"/>
              </a:lnSpc>
              <a:buFont typeface="Wingdings" panose="05000000000000000000" pitchFamily="2" charset="2"/>
              <a:buChar char="q"/>
            </a:pPr>
            <a:r>
              <a:rPr lang="en-IN" dirty="0">
                <a:latin typeface="Times New Roman" panose="02020603050405020304" pitchFamily="18" charset="0"/>
                <a:cs typeface="Times New Roman" panose="02020603050405020304" pitchFamily="18" charset="0"/>
              </a:rPr>
              <a:t>Real-time collaboration for multiple stakeholders. </a:t>
            </a:r>
          </a:p>
          <a:p>
            <a:pPr marL="285750" indent="-285750">
              <a:lnSpc>
                <a:spcPct val="150000"/>
              </a:lnSpc>
              <a:buFont typeface="Wingdings" panose="05000000000000000000" pitchFamily="2" charset="2"/>
              <a:buChar char="q"/>
            </a:pPr>
            <a:r>
              <a:rPr lang="en-IN" dirty="0">
                <a:latin typeface="Times New Roman" panose="02020603050405020304" pitchFamily="18" charset="0"/>
                <a:cs typeface="Times New Roman" panose="02020603050405020304" pitchFamily="18" charset="0"/>
              </a:rPr>
              <a:t>Support for Agile User Stories and Product Backlogs. </a:t>
            </a:r>
          </a:p>
          <a:p>
            <a:pPr marL="285750" indent="-285750">
              <a:lnSpc>
                <a:spcPct val="150000"/>
              </a:lnSpc>
              <a:buFont typeface="Wingdings" panose="05000000000000000000" pitchFamily="2" charset="2"/>
              <a:buChar char="q"/>
            </a:pPr>
            <a:r>
              <a:rPr lang="en-IN" dirty="0">
                <a:latin typeface="Times New Roman" panose="02020603050405020304" pitchFamily="18" charset="0"/>
                <a:cs typeface="Times New Roman" panose="02020603050405020304" pitchFamily="18" charset="0"/>
              </a:rPr>
              <a:t>Requirement Traceability Matrix (RTM) generation. </a:t>
            </a:r>
          </a:p>
          <a:p>
            <a:pPr marL="285750" indent="-285750">
              <a:lnSpc>
                <a:spcPct val="150000"/>
              </a:lnSpc>
              <a:buFont typeface="Wingdings" panose="05000000000000000000" pitchFamily="2" charset="2"/>
              <a:buChar char="q"/>
            </a:pPr>
            <a:r>
              <a:rPr lang="en-IN" dirty="0">
                <a:latin typeface="Times New Roman" panose="02020603050405020304" pitchFamily="18" charset="0"/>
                <a:cs typeface="Times New Roman" panose="02020603050405020304" pitchFamily="18" charset="0"/>
              </a:rPr>
              <a:t>Integration with project management tools such as Jira and Trello. </a:t>
            </a:r>
          </a:p>
          <a:p>
            <a:pPr marL="285750" indent="-285750">
              <a:lnSpc>
                <a:spcPct val="150000"/>
              </a:lnSpc>
              <a:buFont typeface="Wingdings" panose="05000000000000000000" pitchFamily="2" charset="2"/>
              <a:buChar char="q"/>
            </a:pPr>
            <a:r>
              <a:rPr lang="en-IN" dirty="0">
                <a:latin typeface="Times New Roman" panose="02020603050405020304" pitchFamily="18" charset="0"/>
                <a:cs typeface="Times New Roman" panose="02020603050405020304" pitchFamily="18" charset="0"/>
              </a:rPr>
              <a:t>Multi-language requirement analysis and SRS generation. </a:t>
            </a:r>
          </a:p>
          <a:p>
            <a:pPr marL="285750" indent="-285750">
              <a:lnSpc>
                <a:spcPct val="150000"/>
              </a:lnSpc>
              <a:buFont typeface="Wingdings" panose="05000000000000000000" pitchFamily="2" charset="2"/>
              <a:buChar char="q"/>
            </a:pPr>
            <a:r>
              <a:rPr lang="en-IN" dirty="0">
                <a:latin typeface="Times New Roman" panose="02020603050405020304" pitchFamily="18" charset="0"/>
                <a:cs typeface="Times New Roman" panose="02020603050405020304" pitchFamily="18" charset="0"/>
              </a:rPr>
              <a:t>Cloud-based deployment for enterprise-scale projects.</a:t>
            </a:r>
          </a:p>
        </p:txBody>
      </p:sp>
    </p:spTree>
    <p:extLst>
      <p:ext uri="{BB962C8B-B14F-4D97-AF65-F5344CB8AC3E}">
        <p14:creationId xmlns:p14="http://schemas.microsoft.com/office/powerpoint/2010/main" val="358484669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1DA0840-2E76-E450-D92E-12036C270229}"/>
              </a:ext>
            </a:extLst>
          </p:cNvPr>
          <p:cNvSpPr txBox="1"/>
          <p:nvPr/>
        </p:nvSpPr>
        <p:spPr>
          <a:xfrm>
            <a:off x="4226560" y="358894"/>
            <a:ext cx="6096000" cy="646331"/>
          </a:xfrm>
          <a:prstGeom prst="rect">
            <a:avLst/>
          </a:prstGeom>
          <a:noFill/>
        </p:spPr>
        <p:txBody>
          <a:bodyPr wrap="square">
            <a:spAutoFit/>
          </a:bodyPr>
          <a:lstStyle/>
          <a:p>
            <a:pPr>
              <a:buNone/>
            </a:pPr>
            <a:r>
              <a:rPr lang="en-IN" sz="3600" b="1" dirty="0">
                <a:solidFill>
                  <a:srgbClr val="FF0000"/>
                </a:solidFill>
                <a:latin typeface="Times New Roman" panose="02020603050405020304" pitchFamily="18" charset="0"/>
                <a:cs typeface="Times New Roman" panose="02020603050405020304" pitchFamily="18" charset="0"/>
              </a:rPr>
              <a:t>REFERENCES</a:t>
            </a:r>
          </a:p>
        </p:txBody>
      </p:sp>
      <p:sp>
        <p:nvSpPr>
          <p:cNvPr id="9" name="TextBox 8">
            <a:extLst>
              <a:ext uri="{FF2B5EF4-FFF2-40B4-BE49-F238E27FC236}">
                <a16:creationId xmlns:a16="http://schemas.microsoft.com/office/drawing/2014/main" id="{B19ECC38-F8CE-5307-E3CB-91AD4EE8A127}"/>
              </a:ext>
            </a:extLst>
          </p:cNvPr>
          <p:cNvSpPr txBox="1"/>
          <p:nvPr/>
        </p:nvSpPr>
        <p:spPr>
          <a:xfrm>
            <a:off x="736600" y="1055052"/>
            <a:ext cx="10231120" cy="5444054"/>
          </a:xfrm>
          <a:prstGeom prst="rect">
            <a:avLst/>
          </a:prstGeom>
          <a:noFill/>
        </p:spPr>
        <p:txBody>
          <a:bodyPr wrap="square">
            <a:spAutoFit/>
          </a:bodyPr>
          <a:lstStyle/>
          <a:p>
            <a:pPr marL="285750" indent="-285750">
              <a:lnSpc>
                <a:spcPct val="150000"/>
              </a:lnSpc>
              <a:buFont typeface="Wingdings" panose="05000000000000000000" pitchFamily="2" charset="2"/>
              <a:buChar char="ü"/>
            </a:pPr>
            <a:r>
              <a:rPr lang="en-IN" dirty="0">
                <a:latin typeface="Times New Roman" panose="02020603050405020304" pitchFamily="18" charset="0"/>
                <a:cs typeface="Times New Roman" panose="02020603050405020304" pitchFamily="18" charset="0"/>
              </a:rPr>
              <a:t>Y. Zhang, H. Wang, and J. Liu, “AI-Based Requirement Analysis Using NLP,” International Journal of Software Engineering and Applications, vol. 15, no. 2, pp. 45–58, 2025. </a:t>
            </a:r>
          </a:p>
          <a:p>
            <a:pPr marL="285750" indent="-285750">
              <a:lnSpc>
                <a:spcPct val="150000"/>
              </a:lnSpc>
              <a:buFont typeface="Wingdings" panose="05000000000000000000" pitchFamily="2" charset="2"/>
              <a:buChar char="ü"/>
            </a:pPr>
            <a:r>
              <a:rPr lang="en-IN" dirty="0">
                <a:latin typeface="Times New Roman" panose="02020603050405020304" pitchFamily="18" charset="0"/>
                <a:cs typeface="Times New Roman" panose="02020603050405020304" pitchFamily="18" charset="0"/>
              </a:rPr>
              <a:t>R. Sharma and P. Gupta, “Automated Requirement Engineering Framework Using Machine Learning,” IEEE Access, vol. 11, pp. 78945–78958, 2025.</a:t>
            </a:r>
          </a:p>
          <a:p>
            <a:pPr marL="285750" indent="-285750">
              <a:lnSpc>
                <a:spcPct val="150000"/>
              </a:lnSpc>
              <a:buFont typeface="Wingdings" panose="05000000000000000000" pitchFamily="2" charset="2"/>
              <a:buChar char="ü"/>
            </a:pPr>
            <a:r>
              <a:rPr lang="en-IN" dirty="0">
                <a:latin typeface="Times New Roman" panose="02020603050405020304" pitchFamily="18" charset="0"/>
                <a:cs typeface="Times New Roman" panose="02020603050405020304" pitchFamily="18" charset="0"/>
              </a:rPr>
              <a:t> S. Kumar, A. Verma, and R. Singh, “Smart SRS Generation Using AI Techniques,” Journal of Systems and Software, vol. 205, pp. 111–123, 2024. </a:t>
            </a:r>
          </a:p>
          <a:p>
            <a:pPr marL="285750" indent="-285750">
              <a:lnSpc>
                <a:spcPct val="150000"/>
              </a:lnSpc>
              <a:buFont typeface="Wingdings" panose="05000000000000000000" pitchFamily="2" charset="2"/>
              <a:buChar char="ü"/>
            </a:pPr>
            <a:r>
              <a:rPr lang="en-IN" dirty="0">
                <a:latin typeface="Times New Roman" panose="02020603050405020304" pitchFamily="18" charset="0"/>
                <a:cs typeface="Times New Roman" panose="02020603050405020304" pitchFamily="18" charset="0"/>
              </a:rPr>
              <a:t>M. Lee, J. Park, and S. Kim, “Intelligent Software Requirement Processing System,” IEEE Transactions on Software Engineering, vol. 50, no. 4, pp. 876–889, 2024.</a:t>
            </a:r>
          </a:p>
          <a:p>
            <a:pPr marL="285750" indent="-285750">
              <a:lnSpc>
                <a:spcPct val="150000"/>
              </a:lnSpc>
              <a:buFont typeface="Wingdings" panose="05000000000000000000" pitchFamily="2" charset="2"/>
              <a:buChar char="ü"/>
            </a:pPr>
            <a:r>
              <a:rPr lang="en-IN" dirty="0">
                <a:latin typeface="Times New Roman" panose="02020603050405020304" pitchFamily="18" charset="0"/>
                <a:cs typeface="Times New Roman" panose="02020603050405020304" pitchFamily="18" charset="0"/>
              </a:rPr>
              <a:t> K. Patel and D. Singh, “Requirement Extraction from Natural Language Documents Using NLP and NER,” International Journal of Advanced Computer Science and Applications, vol. 16, no. 1, pp. 112–120, 2023. </a:t>
            </a:r>
          </a:p>
          <a:p>
            <a:pPr marL="285750" indent="-285750">
              <a:lnSpc>
                <a:spcPct val="150000"/>
              </a:lnSpc>
              <a:buFont typeface="Wingdings" panose="05000000000000000000" pitchFamily="2" charset="2"/>
              <a:buChar char="ü"/>
            </a:pPr>
            <a:r>
              <a:rPr lang="en-IN" dirty="0">
                <a:latin typeface="Times New Roman" panose="02020603050405020304" pitchFamily="18" charset="0"/>
                <a:cs typeface="Times New Roman" panose="02020603050405020304" pitchFamily="18" charset="0"/>
              </a:rPr>
              <a:t>M. A. Umar and K. Lano, “Advances in Automated Support for Requirements Engineering: A Systematic Literature Review,” Requirements Engineering, vol. 30, no. 1, pp. 1–28, 2023.</a:t>
            </a:r>
          </a:p>
        </p:txBody>
      </p:sp>
    </p:spTree>
    <p:extLst>
      <p:ext uri="{BB962C8B-B14F-4D97-AF65-F5344CB8AC3E}">
        <p14:creationId xmlns:p14="http://schemas.microsoft.com/office/powerpoint/2010/main" val="346103075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88F6E561-6510-0D58-DED3-E911BFFC3A75}"/>
              </a:ext>
            </a:extLst>
          </p:cNvPr>
          <p:cNvPicPr>
            <a:picLocks noChangeAspect="1"/>
          </p:cNvPicPr>
          <p:nvPr/>
        </p:nvPicPr>
        <p:blipFill>
          <a:blip r:embed="rId2"/>
          <a:stretch>
            <a:fillRect/>
          </a:stretch>
        </p:blipFill>
        <p:spPr>
          <a:xfrm>
            <a:off x="0" y="0"/>
            <a:ext cx="12192000" cy="6858000"/>
          </a:xfrm>
          <a:prstGeom prst="rect">
            <a:avLst/>
          </a:prstGeom>
        </p:spPr>
      </p:pic>
    </p:spTree>
    <p:extLst>
      <p:ext uri="{BB962C8B-B14F-4D97-AF65-F5344CB8AC3E}">
        <p14:creationId xmlns:p14="http://schemas.microsoft.com/office/powerpoint/2010/main" val="5494120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203</TotalTime>
  <Words>1085</Words>
  <Application>Microsoft Office PowerPoint</Application>
  <PresentationFormat>Widescreen</PresentationFormat>
  <Paragraphs>129</Paragraphs>
  <Slides>13</Slides>
  <Notes>3</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13</vt:i4>
      </vt:variant>
    </vt:vector>
  </HeadingPairs>
  <TitlesOfParts>
    <vt:vector size="19" baseType="lpstr">
      <vt:lpstr>Arial</vt:lpstr>
      <vt:lpstr>Calibri</vt:lpstr>
      <vt:lpstr>Calibri Light</vt:lpstr>
      <vt:lpstr>Times New Roman</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gnaneswari tirumanyam</dc:creator>
  <cp:lastModifiedBy>gnaneswari tirumanyam</cp:lastModifiedBy>
  <cp:revision>7</cp:revision>
  <dcterms:created xsi:type="dcterms:W3CDTF">2026-06-16T02:51:50Z</dcterms:created>
  <dcterms:modified xsi:type="dcterms:W3CDTF">2026-06-19T04:23:21Z</dcterms:modified>
</cp:coreProperties>
</file>